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70" r:id="rId9"/>
    <p:sldId id="271" r:id="rId10"/>
    <p:sldId id="272" r:id="rId11"/>
    <p:sldId id="273" r:id="rId12"/>
    <p:sldId id="267" r:id="rId13"/>
    <p:sldId id="268" r:id="rId14"/>
    <p:sldId id="274" r:id="rId15"/>
    <p:sldId id="275" r:id="rId16"/>
    <p:sldId id="276" r:id="rId17"/>
    <p:sldId id="269" r:id="rId18"/>
  </p:sldIdLst>
  <p:sldSz cx="18288000" cy="10287000"/>
  <p:notesSz cx="6858000" cy="9144000"/>
  <p:embeddedFontLst>
    <p:embeddedFont>
      <p:font typeface="EB Garamond" panose="00000500000000000000" pitchFamily="2" charset="0"/>
      <p:regular r:id="rId20"/>
      <p:bold r:id="rId21"/>
      <p:italic r:id="rId22"/>
      <p:boldItalic r:id="rId23"/>
    </p:embeddedFont>
    <p:embeddedFont>
      <p:font typeface="EB Garamond Medium" panose="00000600000000000000" pitchFamily="2" charset="0"/>
      <p:regular r:id="rId24"/>
      <p:bold r:id="rId25"/>
      <p:italic r:id="rId26"/>
      <p:boldItalic r:id="rId27"/>
    </p:embeddedFont>
    <p:embeddedFont>
      <p:font typeface="EB Garamond SemiBold" panose="000007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gvevhXgkAVDJ46wJijvh7ZxkDg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f9ebf28f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g36f9ebf28f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ebc2dca05_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g37ebc2dca05_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ebc2dca05_3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4" name="Google Shape;114;g37ebc2dca05_3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ebc2dca05_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g37ebc2dca05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0fabbc381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80fabbc381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ebc2dca05_3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g37ebc2dca05_3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17B86EA8-5D58-5CD6-0E05-1A6C490D4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ebc2dca05_3_52:notes">
            <a:extLst>
              <a:ext uri="{FF2B5EF4-FFF2-40B4-BE49-F238E27FC236}">
                <a16:creationId xmlns:a16="http://schemas.microsoft.com/office/drawing/2014/main" id="{EFACBEBC-2A3A-D7A2-B93B-16016E98EA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g37ebc2dca05_3_52:notes">
            <a:extLst>
              <a:ext uri="{FF2B5EF4-FFF2-40B4-BE49-F238E27FC236}">
                <a16:creationId xmlns:a16="http://schemas.microsoft.com/office/drawing/2014/main" id="{C2A93FD4-6B27-A110-6EEE-674292EC06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13226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45343C62-575B-E57A-39BE-4ABF34EBB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ebc2dca05_3_52:notes">
            <a:extLst>
              <a:ext uri="{FF2B5EF4-FFF2-40B4-BE49-F238E27FC236}">
                <a16:creationId xmlns:a16="http://schemas.microsoft.com/office/drawing/2014/main" id="{C0C4156C-6A33-730E-9152-F6A070D9E9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g37ebc2dca05_3_52:notes">
            <a:extLst>
              <a:ext uri="{FF2B5EF4-FFF2-40B4-BE49-F238E27FC236}">
                <a16:creationId xmlns:a16="http://schemas.microsoft.com/office/drawing/2014/main" id="{A70460CD-19F8-75EA-D48C-60BCD949E1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77391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5EB3EC65-ADE9-372B-997A-7072FA95A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ebc2dca05_3_52:notes">
            <a:extLst>
              <a:ext uri="{FF2B5EF4-FFF2-40B4-BE49-F238E27FC236}">
                <a16:creationId xmlns:a16="http://schemas.microsoft.com/office/drawing/2014/main" id="{21C5E652-2C32-63E8-A458-797382064B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g37ebc2dca05_3_52:notes">
            <a:extLst>
              <a:ext uri="{FF2B5EF4-FFF2-40B4-BE49-F238E27FC236}">
                <a16:creationId xmlns:a16="http://schemas.microsoft.com/office/drawing/2014/main" id="{755E5830-94E5-A49E-4987-19E6A1E2A6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206967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6E865D5F-6370-6029-39AA-26365CFB1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ebc2dca05_3_52:notes">
            <a:extLst>
              <a:ext uri="{FF2B5EF4-FFF2-40B4-BE49-F238E27FC236}">
                <a16:creationId xmlns:a16="http://schemas.microsoft.com/office/drawing/2014/main" id="{A5DAFA5E-8B54-CF83-F154-1F244166D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g37ebc2dca05_3_52:notes">
            <a:extLst>
              <a:ext uri="{FF2B5EF4-FFF2-40B4-BE49-F238E27FC236}">
                <a16:creationId xmlns:a16="http://schemas.microsoft.com/office/drawing/2014/main" id="{50A7EB39-279C-F210-B10E-8737B4BA79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44965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ebc2dca05_3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2" name="Google Shape;212;g37ebc2dca05_3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f1b5ef71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2" name="Google Shape;222;g37f1b5ef71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F2BF3E2F-FCC2-DCCC-BD4D-FE93204F0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f1b5ef716_0_2:notes">
            <a:extLst>
              <a:ext uri="{FF2B5EF4-FFF2-40B4-BE49-F238E27FC236}">
                <a16:creationId xmlns:a16="http://schemas.microsoft.com/office/drawing/2014/main" id="{E57329C8-B0CB-8E88-036E-2154326B44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2" name="Google Shape;222;g37f1b5ef716_0_2:notes">
            <a:extLst>
              <a:ext uri="{FF2B5EF4-FFF2-40B4-BE49-F238E27FC236}">
                <a16:creationId xmlns:a16="http://schemas.microsoft.com/office/drawing/2014/main" id="{CF741BED-81D3-83A0-A83A-A7BD132C09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57376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31E376C4-33AF-2058-7314-1DD8F3C2C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f1b5ef716_0_2:notes">
            <a:extLst>
              <a:ext uri="{FF2B5EF4-FFF2-40B4-BE49-F238E27FC236}">
                <a16:creationId xmlns:a16="http://schemas.microsoft.com/office/drawing/2014/main" id="{1101597D-91AF-A076-9002-687270754F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2" name="Google Shape;222;g37f1b5ef716_0_2:notes">
            <a:extLst>
              <a:ext uri="{FF2B5EF4-FFF2-40B4-BE49-F238E27FC236}">
                <a16:creationId xmlns:a16="http://schemas.microsoft.com/office/drawing/2014/main" id="{F44B2DA3-279C-27B9-0B77-5CEE926EA7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265017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92D44DD9-E8AF-5D41-3AE4-8FB60EEC4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f1b5ef716_0_2:notes">
            <a:extLst>
              <a:ext uri="{FF2B5EF4-FFF2-40B4-BE49-F238E27FC236}">
                <a16:creationId xmlns:a16="http://schemas.microsoft.com/office/drawing/2014/main" id="{0B575252-5297-BC79-151C-532D5050E0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2" name="Google Shape;222;g37f1b5ef716_0_2:notes">
            <a:extLst>
              <a:ext uri="{FF2B5EF4-FFF2-40B4-BE49-F238E27FC236}">
                <a16:creationId xmlns:a16="http://schemas.microsoft.com/office/drawing/2014/main" id="{67FBAFE2-5C7B-CF19-04E3-A7E29DCE0C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251220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2" name="Google Shape;2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flipH="1">
            <a:off x="12941694" y="3262696"/>
            <a:ext cx="5374881" cy="7052879"/>
          </a:xfrm>
          <a:custGeom>
            <a:avLst/>
            <a:gdLst/>
            <a:ahLst/>
            <a:cxnLst/>
            <a:rect l="l" t="t" r="r" b="b"/>
            <a:pathLst>
              <a:path w="5374881" h="7052879" extrusionOk="0">
                <a:moveTo>
                  <a:pt x="5374881" y="0"/>
                </a:moveTo>
                <a:lnTo>
                  <a:pt x="0" y="0"/>
                </a:lnTo>
                <a:lnTo>
                  <a:pt x="0" y="7052879"/>
                </a:lnTo>
                <a:lnTo>
                  <a:pt x="5374881" y="7052879"/>
                </a:lnTo>
                <a:lnTo>
                  <a:pt x="5374881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 rot="10800000" flipH="1">
            <a:off x="0" y="0"/>
            <a:ext cx="5374881" cy="7052879"/>
          </a:xfrm>
          <a:custGeom>
            <a:avLst/>
            <a:gdLst/>
            <a:ahLst/>
            <a:cxnLst/>
            <a:rect l="l" t="t" r="r" b="b"/>
            <a:pathLst>
              <a:path w="5374881" h="7052879" extrusionOk="0">
                <a:moveTo>
                  <a:pt x="0" y="7052879"/>
                </a:moveTo>
                <a:lnTo>
                  <a:pt x="5374881" y="7052879"/>
                </a:lnTo>
                <a:lnTo>
                  <a:pt x="5374881" y="0"/>
                </a:lnTo>
                <a:lnTo>
                  <a:pt x="0" y="0"/>
                </a:lnTo>
                <a:lnTo>
                  <a:pt x="0" y="705287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0766725" y="151490"/>
            <a:ext cx="7329276" cy="2108281"/>
          </a:xfrm>
          <a:custGeom>
            <a:avLst/>
            <a:gdLst/>
            <a:ahLst/>
            <a:cxnLst/>
            <a:rect l="l" t="t" r="r" b="b"/>
            <a:pathLst>
              <a:path w="7329276" h="2108281" extrusionOk="0">
                <a:moveTo>
                  <a:pt x="0" y="0"/>
                </a:moveTo>
                <a:lnTo>
                  <a:pt x="7329276" y="0"/>
                </a:lnTo>
                <a:lnTo>
                  <a:pt x="7329276" y="2108282"/>
                </a:lnTo>
                <a:lnTo>
                  <a:pt x="0" y="21082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19553" b="-127935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1028700" y="90453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lang="en-US" sz="2354" b="0" i="0" u="none" strike="noStrike" cap="non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sz="1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526097" y="3087838"/>
            <a:ext cx="526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047161" y="4168758"/>
            <a:ext cx="445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045161" y="3695314"/>
            <a:ext cx="12463200" cy="3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114300" lvl="0" algn="ctr">
              <a:lnSpc>
                <a:spcPct val="118750"/>
              </a:lnSpc>
              <a:buClr>
                <a:schemeClr val="dk1"/>
              </a:buClr>
              <a:buSzPts val="1100"/>
            </a:pPr>
            <a:r>
              <a:rPr lang="en-IN" sz="6000" b="0" i="0" u="none" strike="noStrike" cap="none" dirty="0">
                <a:solidFill>
                  <a:srgbClr val="003060"/>
                </a:solidFill>
                <a:highlight>
                  <a:srgbClr val="FFFFFF"/>
                </a:highlight>
                <a:latin typeface="EB Garamond SemiBold"/>
                <a:ea typeface="EB Garamond SemiBold"/>
                <a:cs typeface="EB Garamond SemiBold"/>
                <a:sym typeface="EB Garamond SemiBold"/>
              </a:rPr>
              <a:t>ESP32-C3 DEVELOPMENT BOARD</a:t>
            </a:r>
            <a:endParaRPr sz="6000" b="0" i="0" u="none" strike="noStrike" cap="none" dirty="0">
              <a:solidFill>
                <a:srgbClr val="003060"/>
              </a:solidFill>
              <a:highlight>
                <a:srgbClr val="FFFFFF"/>
              </a:highlight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f9ebf28fb_0_23"/>
          <p:cNvSpPr/>
          <p:nvPr/>
        </p:nvSpPr>
        <p:spPr>
          <a:xfrm rot="10800000">
            <a:off x="14047882" y="10093"/>
            <a:ext cx="4240118" cy="4228527"/>
          </a:xfrm>
          <a:custGeom>
            <a:avLst/>
            <a:gdLst/>
            <a:ahLst/>
            <a:cxnLst/>
            <a:rect l="l" t="t" r="r" b="b"/>
            <a:pathLst>
              <a:path w="6784189" h="8902162" extrusionOk="0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6" name="Google Shape;96;g36f9ebf28fb_0_23"/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 extrusionOk="0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7" name="Google Shape;97;g36f9ebf28fb_0_23"/>
          <p:cNvSpPr/>
          <p:nvPr/>
        </p:nvSpPr>
        <p:spPr>
          <a:xfrm>
            <a:off x="0" y="9176"/>
            <a:ext cx="3544298" cy="1019524"/>
          </a:xfrm>
          <a:custGeom>
            <a:avLst/>
            <a:gdLst/>
            <a:ahLst/>
            <a:cxnLst/>
            <a:rect l="l" t="t" r="r" b="b"/>
            <a:pathLst>
              <a:path w="3544298" h="1019524" extrusionOk="0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19553" b="-127935"/>
            </a:stretch>
          </a:blipFill>
          <a:ln>
            <a:noFill/>
          </a:ln>
        </p:spPr>
      </p:sp>
      <p:sp>
        <p:nvSpPr>
          <p:cNvPr id="98" name="Google Shape;98;g36f9ebf28fb_0_23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lang="en-US" sz="2354" b="0" i="0" u="none" strike="noStrike" cap="non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sz="1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9" name="Google Shape;99;g36f9ebf28fb_0_23"/>
          <p:cNvSpPr txBox="1"/>
          <p:nvPr/>
        </p:nvSpPr>
        <p:spPr>
          <a:xfrm>
            <a:off x="1109164" y="1587625"/>
            <a:ext cx="3000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lang="en-US" sz="45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4500" b="1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g36f9ebf28fb_0_23"/>
          <p:cNvSpPr txBox="1"/>
          <p:nvPr/>
        </p:nvSpPr>
        <p:spPr>
          <a:xfrm>
            <a:off x="1955376" y="2688906"/>
            <a:ext cx="13244700" cy="57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ESP32-C3 Development Board.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learn the architecture and features of the ESP32-C3.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GPIO pins and communication interfaces.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Wi-Fi and Bluetooth capabilities.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explore programming using the Arduino IDE.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real-world applications of the ESP32.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ebc2dca05_3_10"/>
          <p:cNvSpPr/>
          <p:nvPr/>
        </p:nvSpPr>
        <p:spPr>
          <a:xfrm rot="10800000">
            <a:off x="14047882" y="10093"/>
            <a:ext cx="4240118" cy="4228527"/>
          </a:xfrm>
          <a:custGeom>
            <a:avLst/>
            <a:gdLst/>
            <a:ahLst/>
            <a:cxnLst/>
            <a:rect l="l" t="t" r="r" b="b"/>
            <a:pathLst>
              <a:path w="6784189" h="8902162" extrusionOk="0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6" name="Google Shape;106;g37ebc2dca05_3_10"/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 extrusionOk="0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7" name="Google Shape;107;g37ebc2dca05_3_10"/>
          <p:cNvSpPr/>
          <p:nvPr/>
        </p:nvSpPr>
        <p:spPr>
          <a:xfrm>
            <a:off x="0" y="9176"/>
            <a:ext cx="3544298" cy="1019524"/>
          </a:xfrm>
          <a:custGeom>
            <a:avLst/>
            <a:gdLst/>
            <a:ahLst/>
            <a:cxnLst/>
            <a:rect l="l" t="t" r="r" b="b"/>
            <a:pathLst>
              <a:path w="3544298" h="1019524" extrusionOk="0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19553" b="-127935"/>
            </a:stretch>
          </a:blipFill>
          <a:ln>
            <a:noFill/>
          </a:ln>
        </p:spPr>
      </p:sp>
      <p:sp>
        <p:nvSpPr>
          <p:cNvPr id="108" name="Google Shape;108;g37ebc2dca05_3_10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lang="en-US" sz="2354" b="0" i="0" u="none" strike="noStrike" cap="non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sz="1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9" name="Google Shape;109;g37ebc2dca05_3_10"/>
          <p:cNvSpPr txBox="1"/>
          <p:nvPr/>
        </p:nvSpPr>
        <p:spPr>
          <a:xfrm>
            <a:off x="1065680" y="1587625"/>
            <a:ext cx="9008100" cy="121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4500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ESP32?</a:t>
            </a:r>
            <a:endParaRPr sz="4500" b="1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g37ebc2dca05_3_10"/>
          <p:cNvSpPr txBox="1"/>
          <p:nvPr/>
        </p:nvSpPr>
        <p:spPr>
          <a:xfrm>
            <a:off x="2780427" y="3468915"/>
            <a:ext cx="18755740" cy="69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is a powerful 32-bit microcontroller developed by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Espressif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Systems. It integrates Wi-Fi and Bluetooth connectivity.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designed for IoT (Internet of Things) applications.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offers higher processing speed and more memory than Arduino UNO.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supports multiple communication protocols and peripherals.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ebc2dca05_3_21"/>
          <p:cNvSpPr/>
          <p:nvPr/>
        </p:nvSpPr>
        <p:spPr>
          <a:xfrm rot="10800000">
            <a:off x="14047882" y="10093"/>
            <a:ext cx="4240118" cy="4228527"/>
          </a:xfrm>
          <a:custGeom>
            <a:avLst/>
            <a:gdLst/>
            <a:ahLst/>
            <a:cxnLst/>
            <a:rect l="l" t="t" r="r" b="b"/>
            <a:pathLst>
              <a:path w="6784189" h="8902162" extrusionOk="0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7" name="Google Shape;117;g37ebc2dca05_3_21"/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 extrusionOk="0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8" name="Google Shape;118;g37ebc2dca05_3_21"/>
          <p:cNvSpPr/>
          <p:nvPr/>
        </p:nvSpPr>
        <p:spPr>
          <a:xfrm>
            <a:off x="0" y="9176"/>
            <a:ext cx="3544298" cy="1019524"/>
          </a:xfrm>
          <a:custGeom>
            <a:avLst/>
            <a:gdLst/>
            <a:ahLst/>
            <a:cxnLst/>
            <a:rect l="l" t="t" r="r" b="b"/>
            <a:pathLst>
              <a:path w="3544298" h="1019524" extrusionOk="0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19553" b="-127935"/>
            </a:stretch>
          </a:blipFill>
          <a:ln>
            <a:noFill/>
          </a:ln>
        </p:spPr>
      </p:sp>
      <p:sp>
        <p:nvSpPr>
          <p:cNvPr id="119" name="Google Shape;119;g37ebc2dca05_3_21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lang="en-US" sz="2354" b="0" i="0" u="none" strike="noStrike" cap="non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sz="1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0" name="Google Shape;120;g37ebc2dca05_3_21"/>
          <p:cNvSpPr txBox="1"/>
          <p:nvPr/>
        </p:nvSpPr>
        <p:spPr>
          <a:xfrm>
            <a:off x="1065667" y="1413638"/>
            <a:ext cx="7865682" cy="121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IN" sz="4500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ESP32-C3 Specifications</a:t>
            </a:r>
            <a:endParaRPr sz="4500" b="1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BA0CC7-084E-E3E7-3443-DD91725E6075}"/>
              </a:ext>
            </a:extLst>
          </p:cNvPr>
          <p:cNvSpPr txBox="1"/>
          <p:nvPr/>
        </p:nvSpPr>
        <p:spPr>
          <a:xfrm>
            <a:off x="5227093" y="2454832"/>
            <a:ext cx="9144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Specifications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E3B4CF8-5BCE-2B05-9C7C-8CC130918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08833"/>
              </p:ext>
            </p:extLst>
          </p:nvPr>
        </p:nvGraphicFramePr>
        <p:xfrm>
          <a:off x="4019267" y="3563912"/>
          <a:ext cx="8229600" cy="64008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85882197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931296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198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32-bit RISC-V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669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Clock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 to 160 MHz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946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 KB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843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Flash Memory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MB (Typical)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933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Wi-Fi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802.11 b/g/n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174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Bluetooth 5 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982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GPIO Pins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 to 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1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Voltage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268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ADC Channels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313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PWM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252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8935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560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I²C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1326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ebc2dca05_3_35"/>
          <p:cNvSpPr/>
          <p:nvPr/>
        </p:nvSpPr>
        <p:spPr>
          <a:xfrm rot="10800000">
            <a:off x="14047882" y="10093"/>
            <a:ext cx="4240118" cy="4228527"/>
          </a:xfrm>
          <a:custGeom>
            <a:avLst/>
            <a:gdLst/>
            <a:ahLst/>
            <a:cxnLst/>
            <a:rect l="l" t="t" r="r" b="b"/>
            <a:pathLst>
              <a:path w="6784189" h="8902162" extrusionOk="0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8" name="Google Shape;128;g37ebc2dca05_3_35"/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 extrusionOk="0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9" name="Google Shape;129;g37ebc2dca05_3_35"/>
          <p:cNvSpPr/>
          <p:nvPr/>
        </p:nvSpPr>
        <p:spPr>
          <a:xfrm>
            <a:off x="0" y="9176"/>
            <a:ext cx="3544298" cy="1019524"/>
          </a:xfrm>
          <a:custGeom>
            <a:avLst/>
            <a:gdLst/>
            <a:ahLst/>
            <a:cxnLst/>
            <a:rect l="l" t="t" r="r" b="b"/>
            <a:pathLst>
              <a:path w="3544298" h="1019524" extrusionOk="0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19553" b="-127935"/>
            </a:stretch>
          </a:blipFill>
          <a:ln>
            <a:noFill/>
          </a:ln>
        </p:spPr>
      </p:sp>
      <p:sp>
        <p:nvSpPr>
          <p:cNvPr id="130" name="Google Shape;130;g37ebc2dca05_3_35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lang="en-US" sz="2354" b="0" i="0" u="none" strike="noStrike" cap="non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sz="1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1" name="Google Shape;131;g37ebc2dca05_3_35"/>
          <p:cNvSpPr txBox="1"/>
          <p:nvPr/>
        </p:nvSpPr>
        <p:spPr>
          <a:xfrm>
            <a:off x="1043919" y="1783361"/>
            <a:ext cx="5354400" cy="121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IN" sz="45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 pin diagram</a:t>
            </a:r>
            <a:endParaRPr sz="4500" b="1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E768FF-E63C-10A1-5D8D-254CB9FC4F54}"/>
              </a:ext>
            </a:extLst>
          </p:cNvPr>
          <p:cNvSpPr txBox="1"/>
          <p:nvPr/>
        </p:nvSpPr>
        <p:spPr>
          <a:xfrm>
            <a:off x="6099220" y="3955548"/>
            <a:ext cx="1116820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ADC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PWM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I²C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Pins </a:t>
            </a:r>
          </a:p>
        </p:txBody>
      </p:sp>
      <p:pic>
        <p:nvPicPr>
          <p:cNvPr id="2" name="Picture 1" descr="esp32 pinout">
            <a:extLst>
              <a:ext uri="{FF2B5EF4-FFF2-40B4-BE49-F238E27FC236}">
                <a16:creationId xmlns:a16="http://schemas.microsoft.com/office/drawing/2014/main" id="{00A8402B-492B-2463-5CA6-A74F79ED90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8152" y="2995201"/>
            <a:ext cx="10986088" cy="65916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0fabbc381_0_277"/>
          <p:cNvSpPr/>
          <p:nvPr/>
        </p:nvSpPr>
        <p:spPr>
          <a:xfrm rot="10800000">
            <a:off x="14047882" y="10093"/>
            <a:ext cx="4240118" cy="4228527"/>
          </a:xfrm>
          <a:custGeom>
            <a:avLst/>
            <a:gdLst/>
            <a:ahLst/>
            <a:cxnLst/>
            <a:rect l="l" t="t" r="r" b="b"/>
            <a:pathLst>
              <a:path w="6784189" h="8902162" extrusionOk="0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8" name="Google Shape;138;g380fabbc381_0_277"/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 extrusionOk="0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9" name="Google Shape;139;g380fabbc381_0_277"/>
          <p:cNvSpPr/>
          <p:nvPr/>
        </p:nvSpPr>
        <p:spPr>
          <a:xfrm>
            <a:off x="0" y="9176"/>
            <a:ext cx="3544298" cy="1019524"/>
          </a:xfrm>
          <a:custGeom>
            <a:avLst/>
            <a:gdLst/>
            <a:ahLst/>
            <a:cxnLst/>
            <a:rect l="l" t="t" r="r" b="b"/>
            <a:pathLst>
              <a:path w="3544298" h="1019524" extrusionOk="0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19581" b="-127967"/>
            </a:stretch>
          </a:blipFill>
          <a:ln>
            <a:noFill/>
          </a:ln>
        </p:spPr>
      </p:sp>
      <p:sp>
        <p:nvSpPr>
          <p:cNvPr id="140" name="Google Shape;140;g380fabbc381_0_277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lang="en-US" sz="2354" b="0" i="0" u="none" strike="noStrike" cap="non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sz="1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1" name="Google Shape;141;g380fabbc381_0_277"/>
          <p:cNvSpPr/>
          <p:nvPr/>
        </p:nvSpPr>
        <p:spPr>
          <a:xfrm rot="10800000">
            <a:off x="14047882" y="10093"/>
            <a:ext cx="4240118" cy="4228527"/>
          </a:xfrm>
          <a:custGeom>
            <a:avLst/>
            <a:gdLst/>
            <a:ahLst/>
            <a:cxnLst/>
            <a:rect l="l" t="t" r="r" b="b"/>
            <a:pathLst>
              <a:path w="6784189" h="8902162" extrusionOk="0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2" name="Google Shape;142;g380fabbc381_0_277"/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 extrusionOk="0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3" name="Google Shape;143;g380fabbc381_0_277"/>
          <p:cNvSpPr/>
          <p:nvPr/>
        </p:nvSpPr>
        <p:spPr>
          <a:xfrm>
            <a:off x="0" y="9176"/>
            <a:ext cx="3544298" cy="1019524"/>
          </a:xfrm>
          <a:custGeom>
            <a:avLst/>
            <a:gdLst/>
            <a:ahLst/>
            <a:cxnLst/>
            <a:rect l="l" t="t" r="r" b="b"/>
            <a:pathLst>
              <a:path w="3544298" h="1019524" extrusionOk="0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19581" b="-127967"/>
            </a:stretch>
          </a:blipFill>
          <a:ln>
            <a:noFill/>
          </a:ln>
        </p:spPr>
      </p:sp>
      <p:sp>
        <p:nvSpPr>
          <p:cNvPr id="144" name="Google Shape;144;g380fabbc381_0_277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lang="en-US" sz="2354" b="0" i="0" u="none" strike="noStrike" cap="non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sz="1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5" name="Google Shape;145;g380fabbc381_0_277"/>
          <p:cNvSpPr/>
          <p:nvPr/>
        </p:nvSpPr>
        <p:spPr>
          <a:xfrm rot="10800000">
            <a:off x="14047882" y="10093"/>
            <a:ext cx="4240118" cy="4228527"/>
          </a:xfrm>
          <a:custGeom>
            <a:avLst/>
            <a:gdLst/>
            <a:ahLst/>
            <a:cxnLst/>
            <a:rect l="l" t="t" r="r" b="b"/>
            <a:pathLst>
              <a:path w="6784189" h="8902162" extrusionOk="0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g380fabbc381_0_277"/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 extrusionOk="0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7" name="Google Shape;147;g380fabbc381_0_277"/>
          <p:cNvSpPr/>
          <p:nvPr/>
        </p:nvSpPr>
        <p:spPr>
          <a:xfrm>
            <a:off x="0" y="9176"/>
            <a:ext cx="3544298" cy="1019524"/>
          </a:xfrm>
          <a:custGeom>
            <a:avLst/>
            <a:gdLst/>
            <a:ahLst/>
            <a:cxnLst/>
            <a:rect l="l" t="t" r="r" b="b"/>
            <a:pathLst>
              <a:path w="3544298" h="1019524" extrusionOk="0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19589" b="-127983"/>
            </a:stretch>
          </a:blipFill>
          <a:ln>
            <a:noFill/>
          </a:ln>
        </p:spPr>
      </p:sp>
      <p:sp>
        <p:nvSpPr>
          <p:cNvPr id="148" name="Google Shape;148;g380fabbc381_0_277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lang="en-US" sz="2354" b="0" i="0" u="none" strike="noStrike" cap="non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sz="1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9" name="Google Shape;149;g380fabbc381_0_277"/>
          <p:cNvSpPr txBox="1"/>
          <p:nvPr/>
        </p:nvSpPr>
        <p:spPr>
          <a:xfrm>
            <a:off x="929771" y="1151275"/>
            <a:ext cx="14010000" cy="82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1" i="0" u="none" strike="noStrike" cap="none" dirty="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Setting up your circuit</a:t>
            </a:r>
            <a:endParaRPr sz="4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IN" sz="3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Drag to the components form the component library</a:t>
            </a: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endParaRPr sz="4500" b="1" i="0" u="none" strike="noStrike" cap="none" dirty="0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endParaRPr sz="4500" b="1" i="0" u="none" strike="noStrike" cap="none" dirty="0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endParaRPr sz="4500" b="1" i="0" u="none" strike="noStrike" cap="none" dirty="0">
              <a:solidFill>
                <a:srgbClr val="003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2A1052-7E42-9C19-2AC7-940CE8B823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0678" y="2602970"/>
            <a:ext cx="11547204" cy="72151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ebc2dca05_3_52"/>
          <p:cNvSpPr/>
          <p:nvPr/>
        </p:nvSpPr>
        <p:spPr>
          <a:xfrm rot="10800000">
            <a:off x="14047882" y="10093"/>
            <a:ext cx="4240118" cy="4228527"/>
          </a:xfrm>
          <a:custGeom>
            <a:avLst/>
            <a:gdLst/>
            <a:ahLst/>
            <a:cxnLst/>
            <a:rect l="l" t="t" r="r" b="b"/>
            <a:pathLst>
              <a:path w="6784189" h="8902162" extrusionOk="0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2" name="Google Shape;182;g37ebc2dca05_3_52"/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 extrusionOk="0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3" name="Google Shape;183;g37ebc2dca05_3_52"/>
          <p:cNvSpPr/>
          <p:nvPr/>
        </p:nvSpPr>
        <p:spPr>
          <a:xfrm>
            <a:off x="0" y="9176"/>
            <a:ext cx="3544298" cy="1019524"/>
          </a:xfrm>
          <a:custGeom>
            <a:avLst/>
            <a:gdLst/>
            <a:ahLst/>
            <a:cxnLst/>
            <a:rect l="l" t="t" r="r" b="b"/>
            <a:pathLst>
              <a:path w="3544298" h="1019524" extrusionOk="0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19553" b="-127935"/>
            </a:stretch>
          </a:blipFill>
          <a:ln>
            <a:noFill/>
          </a:ln>
        </p:spPr>
      </p:sp>
      <p:sp>
        <p:nvSpPr>
          <p:cNvPr id="184" name="Google Shape;184;g37ebc2dca05_3_52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lang="en-US" sz="2354" b="0" i="0" u="none" strike="noStrike" cap="non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sz="1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5" name="Google Shape;185;g37ebc2dca05_3_52"/>
          <p:cNvSpPr txBox="1"/>
          <p:nvPr/>
        </p:nvSpPr>
        <p:spPr>
          <a:xfrm>
            <a:off x="1065667" y="1196153"/>
            <a:ext cx="5354400" cy="121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IN" sz="4500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in ESP32</a:t>
            </a:r>
            <a:endParaRPr sz="4500" b="1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g37ebc2dca05_3_52"/>
          <p:cNvSpPr txBox="1"/>
          <p:nvPr/>
        </p:nvSpPr>
        <p:spPr>
          <a:xfrm>
            <a:off x="4774800" y="2847687"/>
            <a:ext cx="10132692" cy="6083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Wi-Fi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Bluetooth Low Energy (BLE)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Processor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GPIO Pins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Analog Inputs PWM Outputs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SPI Communication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I²C Communication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Communication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Sleep Mode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Power Consumption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OTA (Over-the-Air Updates)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D85D76CE-A93A-8321-5F43-DD9F3D07E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ebc2dca05_3_52">
            <a:extLst>
              <a:ext uri="{FF2B5EF4-FFF2-40B4-BE49-F238E27FC236}">
                <a16:creationId xmlns:a16="http://schemas.microsoft.com/office/drawing/2014/main" id="{C6CAA9B1-37B8-F4F7-5E4E-72FCF1F85CA4}"/>
              </a:ext>
            </a:extLst>
          </p:cNvPr>
          <p:cNvSpPr/>
          <p:nvPr/>
        </p:nvSpPr>
        <p:spPr>
          <a:xfrm rot="10800000">
            <a:off x="14047882" y="10093"/>
            <a:ext cx="4240118" cy="4228527"/>
          </a:xfrm>
          <a:custGeom>
            <a:avLst/>
            <a:gdLst/>
            <a:ahLst/>
            <a:cxnLst/>
            <a:rect l="l" t="t" r="r" b="b"/>
            <a:pathLst>
              <a:path w="6784189" h="8902162" extrusionOk="0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2" name="Google Shape;182;g37ebc2dca05_3_52">
            <a:extLst>
              <a:ext uri="{FF2B5EF4-FFF2-40B4-BE49-F238E27FC236}">
                <a16:creationId xmlns:a16="http://schemas.microsoft.com/office/drawing/2014/main" id="{98C3867C-1421-281C-30EE-56372A80BBCC}"/>
              </a:ext>
            </a:extLst>
          </p:cNvPr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 extrusionOk="0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3" name="Google Shape;183;g37ebc2dca05_3_52">
            <a:extLst>
              <a:ext uri="{FF2B5EF4-FFF2-40B4-BE49-F238E27FC236}">
                <a16:creationId xmlns:a16="http://schemas.microsoft.com/office/drawing/2014/main" id="{CE7B6607-C961-0263-3531-F369FED07546}"/>
              </a:ext>
            </a:extLst>
          </p:cNvPr>
          <p:cNvSpPr/>
          <p:nvPr/>
        </p:nvSpPr>
        <p:spPr>
          <a:xfrm>
            <a:off x="0" y="9176"/>
            <a:ext cx="3544298" cy="1019524"/>
          </a:xfrm>
          <a:custGeom>
            <a:avLst/>
            <a:gdLst/>
            <a:ahLst/>
            <a:cxnLst/>
            <a:rect l="l" t="t" r="r" b="b"/>
            <a:pathLst>
              <a:path w="3544298" h="1019524" extrusionOk="0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19553" b="-127935"/>
            </a:stretch>
          </a:blipFill>
          <a:ln>
            <a:noFill/>
          </a:ln>
        </p:spPr>
      </p:sp>
      <p:sp>
        <p:nvSpPr>
          <p:cNvPr id="184" name="Google Shape;184;g37ebc2dca05_3_52">
            <a:extLst>
              <a:ext uri="{FF2B5EF4-FFF2-40B4-BE49-F238E27FC236}">
                <a16:creationId xmlns:a16="http://schemas.microsoft.com/office/drawing/2014/main" id="{68EC10CE-493A-1788-FB5F-246378526BBC}"/>
              </a:ext>
            </a:extLst>
          </p:cNvPr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lang="en-US" sz="2354" b="0" i="0" u="none" strike="noStrike" cap="non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sz="1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5" name="Google Shape;185;g37ebc2dca05_3_52">
            <a:extLst>
              <a:ext uri="{FF2B5EF4-FFF2-40B4-BE49-F238E27FC236}">
                <a16:creationId xmlns:a16="http://schemas.microsoft.com/office/drawing/2014/main" id="{EF91B95B-ED64-3F6A-9D8B-EEBD7654CB50}"/>
              </a:ext>
            </a:extLst>
          </p:cNvPr>
          <p:cNvSpPr txBox="1"/>
          <p:nvPr/>
        </p:nvSpPr>
        <p:spPr>
          <a:xfrm>
            <a:off x="1065667" y="1196153"/>
            <a:ext cx="7423240" cy="121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IN" sz="4500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protocols</a:t>
            </a:r>
            <a:endParaRPr sz="4500" b="1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g37ebc2dca05_3_52">
            <a:extLst>
              <a:ext uri="{FF2B5EF4-FFF2-40B4-BE49-F238E27FC236}">
                <a16:creationId xmlns:a16="http://schemas.microsoft.com/office/drawing/2014/main" id="{4F6E28CE-C0B0-20A1-8B99-F651C8A4680D}"/>
              </a:ext>
            </a:extLst>
          </p:cNvPr>
          <p:cNvSpPr txBox="1"/>
          <p:nvPr/>
        </p:nvSpPr>
        <p:spPr>
          <a:xfrm>
            <a:off x="6714909" y="3352654"/>
            <a:ext cx="8692482" cy="6083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I²C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PWM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Wi-Fi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Bluetooth LE</a:t>
            </a:r>
          </a:p>
        </p:txBody>
      </p:sp>
    </p:spTree>
    <p:extLst>
      <p:ext uri="{BB962C8B-B14F-4D97-AF65-F5344CB8AC3E}">
        <p14:creationId xmlns:p14="http://schemas.microsoft.com/office/powerpoint/2010/main" val="4167234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B3A4DBC7-1C48-585D-F1E9-DC2BFB481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ebc2dca05_3_52">
            <a:extLst>
              <a:ext uri="{FF2B5EF4-FFF2-40B4-BE49-F238E27FC236}">
                <a16:creationId xmlns:a16="http://schemas.microsoft.com/office/drawing/2014/main" id="{2B6467D1-B449-455C-1B8C-929AE1ABE5B2}"/>
              </a:ext>
            </a:extLst>
          </p:cNvPr>
          <p:cNvSpPr/>
          <p:nvPr/>
        </p:nvSpPr>
        <p:spPr>
          <a:xfrm rot="10800000">
            <a:off x="14225303" y="-167328"/>
            <a:ext cx="4240118" cy="4228527"/>
          </a:xfrm>
          <a:custGeom>
            <a:avLst/>
            <a:gdLst/>
            <a:ahLst/>
            <a:cxnLst/>
            <a:rect l="l" t="t" r="r" b="b"/>
            <a:pathLst>
              <a:path w="6784189" h="8902162" extrusionOk="0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2" name="Google Shape;182;g37ebc2dca05_3_52">
            <a:extLst>
              <a:ext uri="{FF2B5EF4-FFF2-40B4-BE49-F238E27FC236}">
                <a16:creationId xmlns:a16="http://schemas.microsoft.com/office/drawing/2014/main" id="{FBC34E70-7901-5D06-3012-331312B9786F}"/>
              </a:ext>
            </a:extLst>
          </p:cNvPr>
          <p:cNvSpPr/>
          <p:nvPr/>
        </p:nvSpPr>
        <p:spPr>
          <a:xfrm>
            <a:off x="17112535" y="6033107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 extrusionOk="0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3" name="Google Shape;183;g37ebc2dca05_3_52">
            <a:extLst>
              <a:ext uri="{FF2B5EF4-FFF2-40B4-BE49-F238E27FC236}">
                <a16:creationId xmlns:a16="http://schemas.microsoft.com/office/drawing/2014/main" id="{1187E411-9536-701F-9BA6-B6529E183D71}"/>
              </a:ext>
            </a:extLst>
          </p:cNvPr>
          <p:cNvSpPr/>
          <p:nvPr/>
        </p:nvSpPr>
        <p:spPr>
          <a:xfrm>
            <a:off x="177421" y="-168245"/>
            <a:ext cx="3544298" cy="1019524"/>
          </a:xfrm>
          <a:custGeom>
            <a:avLst/>
            <a:gdLst/>
            <a:ahLst/>
            <a:cxnLst/>
            <a:rect l="l" t="t" r="r" b="b"/>
            <a:pathLst>
              <a:path w="3544298" h="1019524" extrusionOk="0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19553" b="-127935"/>
            </a:stretch>
          </a:blipFill>
          <a:ln>
            <a:noFill/>
          </a:ln>
        </p:spPr>
      </p:sp>
      <p:sp>
        <p:nvSpPr>
          <p:cNvPr id="184" name="Google Shape;184;g37ebc2dca05_3_52">
            <a:extLst>
              <a:ext uri="{FF2B5EF4-FFF2-40B4-BE49-F238E27FC236}">
                <a16:creationId xmlns:a16="http://schemas.microsoft.com/office/drawing/2014/main" id="{9A2F4009-12BF-433C-9800-B02A6D995D53}"/>
              </a:ext>
            </a:extLst>
          </p:cNvPr>
          <p:cNvSpPr txBox="1"/>
          <p:nvPr/>
        </p:nvSpPr>
        <p:spPr>
          <a:xfrm>
            <a:off x="7404271" y="9606091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lang="en-US" sz="2354" b="0" i="0" u="none" strike="noStrike" cap="non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sz="1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5" name="Google Shape;185;g37ebc2dca05_3_52">
            <a:extLst>
              <a:ext uri="{FF2B5EF4-FFF2-40B4-BE49-F238E27FC236}">
                <a16:creationId xmlns:a16="http://schemas.microsoft.com/office/drawing/2014/main" id="{A365D934-1476-0826-3D9F-A4A012255B58}"/>
              </a:ext>
            </a:extLst>
          </p:cNvPr>
          <p:cNvSpPr txBox="1"/>
          <p:nvPr/>
        </p:nvSpPr>
        <p:spPr>
          <a:xfrm>
            <a:off x="1243087" y="1018732"/>
            <a:ext cx="7641605" cy="121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Esp32 vs Arduino uno</a:t>
            </a:r>
            <a:endParaRPr sz="4500" b="1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C37D91-AF21-A411-4C7D-6D4031582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099445"/>
              </p:ext>
            </p:extLst>
          </p:nvPr>
        </p:nvGraphicFramePr>
        <p:xfrm>
          <a:off x="4046561" y="3442307"/>
          <a:ext cx="8229600" cy="5181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12068360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6268807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9094960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UNO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ESP32-C3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409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ATmega328P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RISC-V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323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MHz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 MHz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536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Wi-Fi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788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970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KB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 KB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840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 KB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974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394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14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PWM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522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4856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5F845611-ECB4-3E16-4CC6-CE1D55AB0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ebc2dca05_3_52">
            <a:extLst>
              <a:ext uri="{FF2B5EF4-FFF2-40B4-BE49-F238E27FC236}">
                <a16:creationId xmlns:a16="http://schemas.microsoft.com/office/drawing/2014/main" id="{A573569A-907F-263C-D3E7-2DC8A2E0D194}"/>
              </a:ext>
            </a:extLst>
          </p:cNvPr>
          <p:cNvSpPr/>
          <p:nvPr/>
        </p:nvSpPr>
        <p:spPr>
          <a:xfrm rot="10800000">
            <a:off x="14047882" y="10093"/>
            <a:ext cx="4240118" cy="4228527"/>
          </a:xfrm>
          <a:custGeom>
            <a:avLst/>
            <a:gdLst/>
            <a:ahLst/>
            <a:cxnLst/>
            <a:rect l="l" t="t" r="r" b="b"/>
            <a:pathLst>
              <a:path w="6784189" h="8902162" extrusionOk="0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2" name="Google Shape;182;g37ebc2dca05_3_52">
            <a:extLst>
              <a:ext uri="{FF2B5EF4-FFF2-40B4-BE49-F238E27FC236}">
                <a16:creationId xmlns:a16="http://schemas.microsoft.com/office/drawing/2014/main" id="{C7D06645-AEFB-5CCB-6BA0-AC59126155CC}"/>
              </a:ext>
            </a:extLst>
          </p:cNvPr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 extrusionOk="0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3" name="Google Shape;183;g37ebc2dca05_3_52">
            <a:extLst>
              <a:ext uri="{FF2B5EF4-FFF2-40B4-BE49-F238E27FC236}">
                <a16:creationId xmlns:a16="http://schemas.microsoft.com/office/drawing/2014/main" id="{3E3FD3BB-C992-57EB-8A8C-D35E0C095CB4}"/>
              </a:ext>
            </a:extLst>
          </p:cNvPr>
          <p:cNvSpPr/>
          <p:nvPr/>
        </p:nvSpPr>
        <p:spPr>
          <a:xfrm>
            <a:off x="0" y="9176"/>
            <a:ext cx="3544298" cy="1019524"/>
          </a:xfrm>
          <a:custGeom>
            <a:avLst/>
            <a:gdLst/>
            <a:ahLst/>
            <a:cxnLst/>
            <a:rect l="l" t="t" r="r" b="b"/>
            <a:pathLst>
              <a:path w="3544298" h="1019524" extrusionOk="0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19553" b="-127935"/>
            </a:stretch>
          </a:blipFill>
          <a:ln>
            <a:noFill/>
          </a:ln>
        </p:spPr>
      </p:sp>
      <p:sp>
        <p:nvSpPr>
          <p:cNvPr id="184" name="Google Shape;184;g37ebc2dca05_3_52">
            <a:extLst>
              <a:ext uri="{FF2B5EF4-FFF2-40B4-BE49-F238E27FC236}">
                <a16:creationId xmlns:a16="http://schemas.microsoft.com/office/drawing/2014/main" id="{E5924DF3-4848-284D-AFD1-B37343FD9E6B}"/>
              </a:ext>
            </a:extLst>
          </p:cNvPr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lang="en-US" sz="2354" b="0" i="0" u="none" strike="noStrike" cap="non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sz="1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5" name="Google Shape;185;g37ebc2dca05_3_52">
            <a:extLst>
              <a:ext uri="{FF2B5EF4-FFF2-40B4-BE49-F238E27FC236}">
                <a16:creationId xmlns:a16="http://schemas.microsoft.com/office/drawing/2014/main" id="{D54D01C3-AB1C-CE88-616D-DBF5919FE397}"/>
              </a:ext>
            </a:extLst>
          </p:cNvPr>
          <p:cNvSpPr txBox="1"/>
          <p:nvPr/>
        </p:nvSpPr>
        <p:spPr>
          <a:xfrm>
            <a:off x="1065667" y="1196153"/>
            <a:ext cx="5354400" cy="121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IN" sz="4500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 programming</a:t>
            </a:r>
            <a:endParaRPr sz="4500" b="1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g37ebc2dca05_3_52">
            <a:extLst>
              <a:ext uri="{FF2B5EF4-FFF2-40B4-BE49-F238E27FC236}">
                <a16:creationId xmlns:a16="http://schemas.microsoft.com/office/drawing/2014/main" id="{7141D62F-4831-FCD6-5AFB-D8459F37E2EE}"/>
              </a:ext>
            </a:extLst>
          </p:cNvPr>
          <p:cNvSpPr txBox="1"/>
          <p:nvPr/>
        </p:nvSpPr>
        <p:spPr>
          <a:xfrm>
            <a:off x="5187292" y="3270768"/>
            <a:ext cx="18546165" cy="6083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PlatformIO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ESP-IDF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MicroPython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</a:t>
            </a:r>
          </a:p>
        </p:txBody>
      </p:sp>
    </p:spTree>
    <p:extLst>
      <p:ext uri="{BB962C8B-B14F-4D97-AF65-F5344CB8AC3E}">
        <p14:creationId xmlns:p14="http://schemas.microsoft.com/office/powerpoint/2010/main" val="4258374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7F1678A4-33CD-E6E2-1597-F62FAD59D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ebc2dca05_3_52">
            <a:extLst>
              <a:ext uri="{FF2B5EF4-FFF2-40B4-BE49-F238E27FC236}">
                <a16:creationId xmlns:a16="http://schemas.microsoft.com/office/drawing/2014/main" id="{2893E88A-9172-B665-DC9E-539F1167D2DF}"/>
              </a:ext>
            </a:extLst>
          </p:cNvPr>
          <p:cNvSpPr/>
          <p:nvPr/>
        </p:nvSpPr>
        <p:spPr>
          <a:xfrm rot="10800000">
            <a:off x="14047882" y="10093"/>
            <a:ext cx="4240118" cy="4228527"/>
          </a:xfrm>
          <a:custGeom>
            <a:avLst/>
            <a:gdLst/>
            <a:ahLst/>
            <a:cxnLst/>
            <a:rect l="l" t="t" r="r" b="b"/>
            <a:pathLst>
              <a:path w="6784189" h="8902162" extrusionOk="0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2" name="Google Shape;182;g37ebc2dca05_3_52">
            <a:extLst>
              <a:ext uri="{FF2B5EF4-FFF2-40B4-BE49-F238E27FC236}">
                <a16:creationId xmlns:a16="http://schemas.microsoft.com/office/drawing/2014/main" id="{9CD0E2F7-E64D-797F-599E-E8FD3EF3FE5B}"/>
              </a:ext>
            </a:extLst>
          </p:cNvPr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 extrusionOk="0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3" name="Google Shape;183;g37ebc2dca05_3_52">
            <a:extLst>
              <a:ext uri="{FF2B5EF4-FFF2-40B4-BE49-F238E27FC236}">
                <a16:creationId xmlns:a16="http://schemas.microsoft.com/office/drawing/2014/main" id="{7FBB2C5D-E572-8197-4533-8E7E471B303F}"/>
              </a:ext>
            </a:extLst>
          </p:cNvPr>
          <p:cNvSpPr/>
          <p:nvPr/>
        </p:nvSpPr>
        <p:spPr>
          <a:xfrm>
            <a:off x="0" y="9176"/>
            <a:ext cx="3544298" cy="1019524"/>
          </a:xfrm>
          <a:custGeom>
            <a:avLst/>
            <a:gdLst/>
            <a:ahLst/>
            <a:cxnLst/>
            <a:rect l="l" t="t" r="r" b="b"/>
            <a:pathLst>
              <a:path w="3544298" h="1019524" extrusionOk="0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19553" b="-127935"/>
            </a:stretch>
          </a:blipFill>
          <a:ln>
            <a:noFill/>
          </a:ln>
        </p:spPr>
      </p:sp>
      <p:sp>
        <p:nvSpPr>
          <p:cNvPr id="184" name="Google Shape;184;g37ebc2dca05_3_52">
            <a:extLst>
              <a:ext uri="{FF2B5EF4-FFF2-40B4-BE49-F238E27FC236}">
                <a16:creationId xmlns:a16="http://schemas.microsoft.com/office/drawing/2014/main" id="{F023D26E-E409-C2D7-AF93-4482E1F34ACA}"/>
              </a:ext>
            </a:extLst>
          </p:cNvPr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lang="en-US" sz="2354" b="0" i="0" u="none" strike="noStrike" cap="non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sz="1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5" name="Google Shape;185;g37ebc2dca05_3_52">
            <a:extLst>
              <a:ext uri="{FF2B5EF4-FFF2-40B4-BE49-F238E27FC236}">
                <a16:creationId xmlns:a16="http://schemas.microsoft.com/office/drawing/2014/main" id="{30DEF2CB-477C-343D-F328-DA95AB3B0838}"/>
              </a:ext>
            </a:extLst>
          </p:cNvPr>
          <p:cNvSpPr txBox="1"/>
          <p:nvPr/>
        </p:nvSpPr>
        <p:spPr>
          <a:xfrm>
            <a:off x="1065667" y="1196153"/>
            <a:ext cx="6877330" cy="121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IN" sz="4500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Installing ESP32 Board</a:t>
            </a:r>
            <a:endParaRPr sz="4500" b="1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g37ebc2dca05_3_52">
            <a:extLst>
              <a:ext uri="{FF2B5EF4-FFF2-40B4-BE49-F238E27FC236}">
                <a16:creationId xmlns:a16="http://schemas.microsoft.com/office/drawing/2014/main" id="{9882EADB-0E57-D1CB-A3F0-AEF0675C08CA}"/>
              </a:ext>
            </a:extLst>
          </p:cNvPr>
          <p:cNvSpPr txBox="1"/>
          <p:nvPr/>
        </p:nvSpPr>
        <p:spPr>
          <a:xfrm>
            <a:off x="3269209" y="3053855"/>
            <a:ext cx="13462945" cy="6083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 Setup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Arduino IDE.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 Preferences.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ESP32 Board URL.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 Boards Manager.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Install ESP32 by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Espressif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ESP32-C3 Board.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 the board. Upload the program.</a:t>
            </a:r>
          </a:p>
        </p:txBody>
      </p:sp>
    </p:spTree>
    <p:extLst>
      <p:ext uri="{BB962C8B-B14F-4D97-AF65-F5344CB8AC3E}">
        <p14:creationId xmlns:p14="http://schemas.microsoft.com/office/powerpoint/2010/main" val="1313894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ebc2dca05_3_79"/>
          <p:cNvSpPr/>
          <p:nvPr/>
        </p:nvSpPr>
        <p:spPr>
          <a:xfrm rot="10800000">
            <a:off x="14047882" y="10093"/>
            <a:ext cx="4240118" cy="4228527"/>
          </a:xfrm>
          <a:custGeom>
            <a:avLst/>
            <a:gdLst/>
            <a:ahLst/>
            <a:cxnLst/>
            <a:rect l="l" t="t" r="r" b="b"/>
            <a:pathLst>
              <a:path w="6784189" h="8902162" extrusionOk="0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15" name="Google Shape;215;g37ebc2dca05_3_79"/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 extrusionOk="0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16" name="Google Shape;216;g37ebc2dca05_3_79"/>
          <p:cNvSpPr/>
          <p:nvPr/>
        </p:nvSpPr>
        <p:spPr>
          <a:xfrm>
            <a:off x="0" y="9176"/>
            <a:ext cx="3544298" cy="1019524"/>
          </a:xfrm>
          <a:custGeom>
            <a:avLst/>
            <a:gdLst/>
            <a:ahLst/>
            <a:cxnLst/>
            <a:rect l="l" t="t" r="r" b="b"/>
            <a:pathLst>
              <a:path w="3544298" h="1019524" extrusionOk="0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19553" b="-127935"/>
            </a:stretch>
          </a:blipFill>
          <a:ln>
            <a:noFill/>
          </a:ln>
        </p:spPr>
      </p:sp>
      <p:sp>
        <p:nvSpPr>
          <p:cNvPr id="217" name="Google Shape;217;g37ebc2dca05_3_79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lang="en-US" sz="2354" b="0" i="0" u="none" strike="noStrike" cap="non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sz="1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8" name="Google Shape;218;g37ebc2dca05_3_79"/>
          <p:cNvSpPr txBox="1"/>
          <p:nvPr/>
        </p:nvSpPr>
        <p:spPr>
          <a:xfrm>
            <a:off x="765734" y="1052321"/>
            <a:ext cx="6461116" cy="121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ESP32 Program</a:t>
            </a:r>
            <a:endParaRPr sz="4500" b="1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g37ebc2dca05_3_79"/>
          <p:cNvSpPr txBox="1"/>
          <p:nvPr/>
        </p:nvSpPr>
        <p:spPr>
          <a:xfrm>
            <a:off x="4227930" y="2514998"/>
            <a:ext cx="13244700" cy="6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100" lvl="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Blink Example</a:t>
            </a:r>
            <a:endParaRPr lang="en-IN" sz="20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8100" lvl="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void setup()</a:t>
            </a:r>
          </a:p>
          <a:p>
            <a:pPr marL="38100" lvl="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{</a:t>
            </a:r>
          </a:p>
          <a:p>
            <a:pPr marL="38100" lvl="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</a:t>
            </a:r>
            <a:r>
              <a:rPr lang="en-IN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pinMode</a:t>
            </a: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(2, OUTPUT);</a:t>
            </a:r>
          </a:p>
          <a:p>
            <a:pPr marL="38100" lvl="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}</a:t>
            </a:r>
          </a:p>
          <a:p>
            <a:pPr marL="38100" lvl="0">
              <a:lnSpc>
                <a:spcPct val="150000"/>
              </a:lnSpc>
              <a:buClr>
                <a:schemeClr val="dk1"/>
              </a:buClr>
              <a:buSzPts val="3000"/>
            </a:pPr>
            <a:endParaRPr lang="en-IN" sz="20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8100" lvl="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void loop()</a:t>
            </a:r>
          </a:p>
          <a:p>
            <a:pPr marL="38100" lvl="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{</a:t>
            </a:r>
          </a:p>
          <a:p>
            <a:pPr marL="38100" lvl="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</a:t>
            </a:r>
            <a:r>
              <a:rPr lang="en-IN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digitalWrite</a:t>
            </a: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(2, HIGH);</a:t>
            </a:r>
          </a:p>
          <a:p>
            <a:pPr marL="38100" lvl="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delay(1000);</a:t>
            </a:r>
          </a:p>
          <a:p>
            <a:pPr marL="38100" lvl="0">
              <a:lnSpc>
                <a:spcPct val="150000"/>
              </a:lnSpc>
              <a:buClr>
                <a:schemeClr val="dk1"/>
              </a:buClr>
              <a:buSzPts val="3000"/>
            </a:pPr>
            <a:endParaRPr lang="en-IN" sz="20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8100" lvl="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</a:t>
            </a:r>
            <a:r>
              <a:rPr lang="en-IN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digitalWrite</a:t>
            </a: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(2, LOW);</a:t>
            </a:r>
          </a:p>
          <a:p>
            <a:pPr marL="38100" lvl="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delay(1000);</a:t>
            </a:r>
          </a:p>
          <a:p>
            <a:pPr marL="38100" lvl="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}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f1b5ef716_0_2"/>
          <p:cNvSpPr/>
          <p:nvPr/>
        </p:nvSpPr>
        <p:spPr>
          <a:xfrm rot="10800000">
            <a:off x="14047882" y="10093"/>
            <a:ext cx="4240118" cy="4228527"/>
          </a:xfrm>
          <a:custGeom>
            <a:avLst/>
            <a:gdLst/>
            <a:ahLst/>
            <a:cxnLst/>
            <a:rect l="l" t="t" r="r" b="b"/>
            <a:pathLst>
              <a:path w="6784189" h="8902162" extrusionOk="0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5" name="Google Shape;225;g37f1b5ef716_0_2"/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 extrusionOk="0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6" name="Google Shape;226;g37f1b5ef716_0_2"/>
          <p:cNvSpPr/>
          <p:nvPr/>
        </p:nvSpPr>
        <p:spPr>
          <a:xfrm>
            <a:off x="0" y="9176"/>
            <a:ext cx="3544298" cy="1019524"/>
          </a:xfrm>
          <a:custGeom>
            <a:avLst/>
            <a:gdLst/>
            <a:ahLst/>
            <a:cxnLst/>
            <a:rect l="l" t="t" r="r" b="b"/>
            <a:pathLst>
              <a:path w="3544298" h="1019524" extrusionOk="0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19553" b="-127935"/>
            </a:stretch>
          </a:blipFill>
          <a:ln>
            <a:noFill/>
          </a:ln>
        </p:spPr>
      </p:sp>
      <p:sp>
        <p:nvSpPr>
          <p:cNvPr id="227" name="Google Shape;227;g37f1b5ef716_0_2"/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lang="en-US" sz="2354" b="0" i="0" u="none" strike="noStrike" cap="non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sz="1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8" name="Google Shape;228;g37f1b5ef716_0_2"/>
          <p:cNvSpPr txBox="1"/>
          <p:nvPr/>
        </p:nvSpPr>
        <p:spPr>
          <a:xfrm>
            <a:off x="1065667" y="1805109"/>
            <a:ext cx="5354400" cy="121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IN" sz="4500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 Applications</a:t>
            </a:r>
            <a:endParaRPr sz="4500" b="1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g37f1b5ef716_0_2"/>
          <p:cNvSpPr txBox="1"/>
          <p:nvPr/>
        </p:nvSpPr>
        <p:spPr>
          <a:xfrm>
            <a:off x="2179200" y="2922996"/>
            <a:ext cx="13244700" cy="6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Home Automation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Monitoring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Automation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Agriculture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Devices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Electronics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Systems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Sensor Networks</a:t>
            </a:r>
          </a:p>
          <a:p>
            <a:pPr marL="457200" lvl="0" indent="-457200" algn="just">
              <a:buSzPts val="3000"/>
              <a:buFont typeface="Arial" panose="020B0604020202020204" pitchFamily="34" charset="0"/>
              <a:buChar char="•"/>
            </a:pPr>
            <a:endParaRPr lang="en-IN" sz="30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BD7CDD1D-D4CD-E1A3-4C8A-65E506D6F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f1b5ef716_0_2">
            <a:extLst>
              <a:ext uri="{FF2B5EF4-FFF2-40B4-BE49-F238E27FC236}">
                <a16:creationId xmlns:a16="http://schemas.microsoft.com/office/drawing/2014/main" id="{EFBBD472-79F2-5CD7-0C8E-4BDC5E6D4E69}"/>
              </a:ext>
            </a:extLst>
          </p:cNvPr>
          <p:cNvSpPr/>
          <p:nvPr/>
        </p:nvSpPr>
        <p:spPr>
          <a:xfrm rot="10800000">
            <a:off x="14047882" y="10093"/>
            <a:ext cx="4240118" cy="4228527"/>
          </a:xfrm>
          <a:custGeom>
            <a:avLst/>
            <a:gdLst/>
            <a:ahLst/>
            <a:cxnLst/>
            <a:rect l="l" t="t" r="r" b="b"/>
            <a:pathLst>
              <a:path w="6784189" h="8902162" extrusionOk="0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5" name="Google Shape;225;g37f1b5ef716_0_2">
            <a:extLst>
              <a:ext uri="{FF2B5EF4-FFF2-40B4-BE49-F238E27FC236}">
                <a16:creationId xmlns:a16="http://schemas.microsoft.com/office/drawing/2014/main" id="{8F335661-4347-446E-6B95-D066EF3E9398}"/>
              </a:ext>
            </a:extLst>
          </p:cNvPr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 extrusionOk="0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6" name="Google Shape;226;g37f1b5ef716_0_2">
            <a:extLst>
              <a:ext uri="{FF2B5EF4-FFF2-40B4-BE49-F238E27FC236}">
                <a16:creationId xmlns:a16="http://schemas.microsoft.com/office/drawing/2014/main" id="{C1100BF0-53E6-EC40-639E-34214894EFFE}"/>
              </a:ext>
            </a:extLst>
          </p:cNvPr>
          <p:cNvSpPr/>
          <p:nvPr/>
        </p:nvSpPr>
        <p:spPr>
          <a:xfrm>
            <a:off x="0" y="9176"/>
            <a:ext cx="3544298" cy="1019524"/>
          </a:xfrm>
          <a:custGeom>
            <a:avLst/>
            <a:gdLst/>
            <a:ahLst/>
            <a:cxnLst/>
            <a:rect l="l" t="t" r="r" b="b"/>
            <a:pathLst>
              <a:path w="3544298" h="1019524" extrusionOk="0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19553" b="-127935"/>
            </a:stretch>
          </a:blipFill>
          <a:ln>
            <a:noFill/>
          </a:ln>
        </p:spPr>
      </p:sp>
      <p:sp>
        <p:nvSpPr>
          <p:cNvPr id="227" name="Google Shape;227;g37f1b5ef716_0_2">
            <a:extLst>
              <a:ext uri="{FF2B5EF4-FFF2-40B4-BE49-F238E27FC236}">
                <a16:creationId xmlns:a16="http://schemas.microsoft.com/office/drawing/2014/main" id="{AFEE85A3-4B06-FB76-6681-A8EA958AA04F}"/>
              </a:ext>
            </a:extLst>
          </p:cNvPr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lang="en-US" sz="2354" b="0" i="0" u="none" strike="noStrike" cap="non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sz="1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8" name="Google Shape;228;g37f1b5ef716_0_2">
            <a:extLst>
              <a:ext uri="{FF2B5EF4-FFF2-40B4-BE49-F238E27FC236}">
                <a16:creationId xmlns:a16="http://schemas.microsoft.com/office/drawing/2014/main" id="{228DC5FD-52EF-D847-04D3-C011F178FA69}"/>
              </a:ext>
            </a:extLst>
          </p:cNvPr>
          <p:cNvSpPr txBox="1"/>
          <p:nvPr/>
        </p:nvSpPr>
        <p:spPr>
          <a:xfrm>
            <a:off x="1065667" y="1805109"/>
            <a:ext cx="5354400" cy="121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IN" sz="4500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sz="4500" b="1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g37f1b5ef716_0_2">
            <a:extLst>
              <a:ext uri="{FF2B5EF4-FFF2-40B4-BE49-F238E27FC236}">
                <a16:creationId xmlns:a16="http://schemas.microsoft.com/office/drawing/2014/main" id="{827DA6BD-016B-28F8-BACE-48C398EC38FF}"/>
              </a:ext>
            </a:extLst>
          </p:cNvPr>
          <p:cNvSpPr txBox="1"/>
          <p:nvPr/>
        </p:nvSpPr>
        <p:spPr>
          <a:xfrm>
            <a:off x="2179200" y="2922996"/>
            <a:ext cx="13244700" cy="6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Wi-Fi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Bluetooth LE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Processing Speed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Power Consumption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Rich Peripheral Support Large Memory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Free Development Tools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Ideal for IoT Projects</a:t>
            </a:r>
            <a:endParaRPr lang="en-IN" sz="32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1563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D10AEA22-7366-8676-5937-22C05955E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f1b5ef716_0_2">
            <a:extLst>
              <a:ext uri="{FF2B5EF4-FFF2-40B4-BE49-F238E27FC236}">
                <a16:creationId xmlns:a16="http://schemas.microsoft.com/office/drawing/2014/main" id="{F2A04A18-245C-9F45-46D0-6A4EB827B95D}"/>
              </a:ext>
            </a:extLst>
          </p:cNvPr>
          <p:cNvSpPr/>
          <p:nvPr/>
        </p:nvSpPr>
        <p:spPr>
          <a:xfrm rot="10800000">
            <a:off x="14047882" y="10093"/>
            <a:ext cx="4240118" cy="4228527"/>
          </a:xfrm>
          <a:custGeom>
            <a:avLst/>
            <a:gdLst/>
            <a:ahLst/>
            <a:cxnLst/>
            <a:rect l="l" t="t" r="r" b="b"/>
            <a:pathLst>
              <a:path w="6784189" h="8902162" extrusionOk="0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5" name="Google Shape;225;g37f1b5ef716_0_2">
            <a:extLst>
              <a:ext uri="{FF2B5EF4-FFF2-40B4-BE49-F238E27FC236}">
                <a16:creationId xmlns:a16="http://schemas.microsoft.com/office/drawing/2014/main" id="{29E6F71A-4853-BB1D-524E-B97E4F2412FE}"/>
              </a:ext>
            </a:extLst>
          </p:cNvPr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 extrusionOk="0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6" name="Google Shape;226;g37f1b5ef716_0_2">
            <a:extLst>
              <a:ext uri="{FF2B5EF4-FFF2-40B4-BE49-F238E27FC236}">
                <a16:creationId xmlns:a16="http://schemas.microsoft.com/office/drawing/2014/main" id="{0614E2F5-7DFB-65AD-A1C8-2F2EB331135C}"/>
              </a:ext>
            </a:extLst>
          </p:cNvPr>
          <p:cNvSpPr/>
          <p:nvPr/>
        </p:nvSpPr>
        <p:spPr>
          <a:xfrm>
            <a:off x="0" y="9176"/>
            <a:ext cx="3544298" cy="1019524"/>
          </a:xfrm>
          <a:custGeom>
            <a:avLst/>
            <a:gdLst/>
            <a:ahLst/>
            <a:cxnLst/>
            <a:rect l="l" t="t" r="r" b="b"/>
            <a:pathLst>
              <a:path w="3544298" h="1019524" extrusionOk="0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19553" b="-127935"/>
            </a:stretch>
          </a:blipFill>
          <a:ln>
            <a:noFill/>
          </a:ln>
        </p:spPr>
      </p:sp>
      <p:sp>
        <p:nvSpPr>
          <p:cNvPr id="227" name="Google Shape;227;g37f1b5ef716_0_2">
            <a:extLst>
              <a:ext uri="{FF2B5EF4-FFF2-40B4-BE49-F238E27FC236}">
                <a16:creationId xmlns:a16="http://schemas.microsoft.com/office/drawing/2014/main" id="{1D958CC2-C1BD-4534-AB41-0E25175FBC23}"/>
              </a:ext>
            </a:extLst>
          </p:cNvPr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lang="en-US" sz="2354" b="0" i="0" u="none" strike="noStrike" cap="non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sz="1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8" name="Google Shape;228;g37f1b5ef716_0_2">
            <a:extLst>
              <a:ext uri="{FF2B5EF4-FFF2-40B4-BE49-F238E27FC236}">
                <a16:creationId xmlns:a16="http://schemas.microsoft.com/office/drawing/2014/main" id="{1F482FC9-C4BF-CB90-79B3-0E209285B7FE}"/>
              </a:ext>
            </a:extLst>
          </p:cNvPr>
          <p:cNvSpPr txBox="1"/>
          <p:nvPr/>
        </p:nvSpPr>
        <p:spPr>
          <a:xfrm>
            <a:off x="1065667" y="1805109"/>
            <a:ext cx="5354400" cy="121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IN" sz="4500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sz="4500" b="1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g37f1b5ef716_0_2">
            <a:extLst>
              <a:ext uri="{FF2B5EF4-FFF2-40B4-BE49-F238E27FC236}">
                <a16:creationId xmlns:a16="http://schemas.microsoft.com/office/drawing/2014/main" id="{2C1878A3-0F61-3EBB-FC05-1C32AD233A69}"/>
              </a:ext>
            </a:extLst>
          </p:cNvPr>
          <p:cNvSpPr txBox="1"/>
          <p:nvPr/>
        </p:nvSpPr>
        <p:spPr>
          <a:xfrm>
            <a:off x="2179200" y="2922996"/>
            <a:ext cx="13244700" cy="6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Wi-Fi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Bluetooth LE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Processing Speed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Power Consumption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 Peripheral Support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Memory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Development Tools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IoT Projects</a:t>
            </a:r>
            <a:endParaRPr lang="en-IN" sz="32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802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A6277A55-581E-F93D-786A-9E1597607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f1b5ef716_0_2">
            <a:extLst>
              <a:ext uri="{FF2B5EF4-FFF2-40B4-BE49-F238E27FC236}">
                <a16:creationId xmlns:a16="http://schemas.microsoft.com/office/drawing/2014/main" id="{C9E53313-08FC-44D7-D76F-DAED13F4F3D9}"/>
              </a:ext>
            </a:extLst>
          </p:cNvPr>
          <p:cNvSpPr/>
          <p:nvPr/>
        </p:nvSpPr>
        <p:spPr>
          <a:xfrm rot="10800000">
            <a:off x="14047882" y="10093"/>
            <a:ext cx="4240118" cy="4228527"/>
          </a:xfrm>
          <a:custGeom>
            <a:avLst/>
            <a:gdLst/>
            <a:ahLst/>
            <a:cxnLst/>
            <a:rect l="l" t="t" r="r" b="b"/>
            <a:pathLst>
              <a:path w="6784189" h="8902162" extrusionOk="0">
                <a:moveTo>
                  <a:pt x="0" y="0"/>
                </a:moveTo>
                <a:lnTo>
                  <a:pt x="6784190" y="0"/>
                </a:lnTo>
                <a:lnTo>
                  <a:pt x="6784190" y="8902162"/>
                </a:lnTo>
                <a:lnTo>
                  <a:pt x="0" y="8902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5" name="Google Shape;225;g37f1b5ef716_0_2">
            <a:extLst>
              <a:ext uri="{FF2B5EF4-FFF2-40B4-BE49-F238E27FC236}">
                <a16:creationId xmlns:a16="http://schemas.microsoft.com/office/drawing/2014/main" id="{6B884764-7FAC-CC8A-3BD4-BD23F9ADD788}"/>
              </a:ext>
            </a:extLst>
          </p:cNvPr>
          <p:cNvSpPr/>
          <p:nvPr/>
        </p:nvSpPr>
        <p:spPr>
          <a:xfrm>
            <a:off x="16935114" y="6210528"/>
            <a:ext cx="1075032" cy="3047772"/>
          </a:xfrm>
          <a:custGeom>
            <a:avLst/>
            <a:gdLst/>
            <a:ahLst/>
            <a:cxnLst/>
            <a:rect l="l" t="t" r="r" b="b"/>
            <a:pathLst>
              <a:path w="1075032" h="3047772" extrusionOk="0">
                <a:moveTo>
                  <a:pt x="0" y="0"/>
                </a:moveTo>
                <a:lnTo>
                  <a:pt x="1075032" y="0"/>
                </a:lnTo>
                <a:lnTo>
                  <a:pt x="1075032" y="3047772"/>
                </a:lnTo>
                <a:lnTo>
                  <a:pt x="0" y="3047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6" name="Google Shape;226;g37f1b5ef716_0_2">
            <a:extLst>
              <a:ext uri="{FF2B5EF4-FFF2-40B4-BE49-F238E27FC236}">
                <a16:creationId xmlns:a16="http://schemas.microsoft.com/office/drawing/2014/main" id="{77F93FAD-CA67-9604-B0A3-AB7527ED6F84}"/>
              </a:ext>
            </a:extLst>
          </p:cNvPr>
          <p:cNvSpPr/>
          <p:nvPr/>
        </p:nvSpPr>
        <p:spPr>
          <a:xfrm>
            <a:off x="0" y="9176"/>
            <a:ext cx="3544298" cy="1019524"/>
          </a:xfrm>
          <a:custGeom>
            <a:avLst/>
            <a:gdLst/>
            <a:ahLst/>
            <a:cxnLst/>
            <a:rect l="l" t="t" r="r" b="b"/>
            <a:pathLst>
              <a:path w="3544298" h="1019524" extrusionOk="0">
                <a:moveTo>
                  <a:pt x="0" y="0"/>
                </a:moveTo>
                <a:lnTo>
                  <a:pt x="3544298" y="0"/>
                </a:lnTo>
                <a:lnTo>
                  <a:pt x="3544298" y="1019524"/>
                </a:lnTo>
                <a:lnTo>
                  <a:pt x="0" y="1019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19553" b="-127935"/>
            </a:stretch>
          </a:blipFill>
          <a:ln>
            <a:noFill/>
          </a:ln>
        </p:spPr>
      </p:sp>
      <p:sp>
        <p:nvSpPr>
          <p:cNvPr id="227" name="Google Shape;227;g37f1b5ef716_0_2">
            <a:extLst>
              <a:ext uri="{FF2B5EF4-FFF2-40B4-BE49-F238E27FC236}">
                <a16:creationId xmlns:a16="http://schemas.microsoft.com/office/drawing/2014/main" id="{D78F1D97-C4D7-CA8B-3700-6CFD29552C48}"/>
              </a:ext>
            </a:extLst>
          </p:cNvPr>
          <p:cNvSpPr txBox="1"/>
          <p:nvPr/>
        </p:nvSpPr>
        <p:spPr>
          <a:xfrm>
            <a:off x="7226850" y="97835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lang="en-US" sz="2354" b="0" i="0" u="none" strike="noStrike" cap="non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sz="1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8" name="Google Shape;228;g37f1b5ef716_0_2">
            <a:extLst>
              <a:ext uri="{FF2B5EF4-FFF2-40B4-BE49-F238E27FC236}">
                <a16:creationId xmlns:a16="http://schemas.microsoft.com/office/drawing/2014/main" id="{9C560AD1-4A2C-95A8-AF30-6D0AE141F7FF}"/>
              </a:ext>
            </a:extLst>
          </p:cNvPr>
          <p:cNvSpPr txBox="1"/>
          <p:nvPr/>
        </p:nvSpPr>
        <p:spPr>
          <a:xfrm>
            <a:off x="1065667" y="1805109"/>
            <a:ext cx="5354400" cy="121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IN" sz="4500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sz="4500" b="1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g37f1b5ef716_0_2">
            <a:extLst>
              <a:ext uri="{FF2B5EF4-FFF2-40B4-BE49-F238E27FC236}">
                <a16:creationId xmlns:a16="http://schemas.microsoft.com/office/drawing/2014/main" id="{A4D96750-0084-896D-E578-556CDBA53970}"/>
              </a:ext>
            </a:extLst>
          </p:cNvPr>
          <p:cNvSpPr txBox="1"/>
          <p:nvPr/>
        </p:nvSpPr>
        <p:spPr>
          <a:xfrm>
            <a:off x="2179200" y="2922996"/>
            <a:ext cx="13244700" cy="6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at 3.3V only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ADC accuracy compared to dedicated ADCs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complex than Arduino UNO for beginners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GPIO pins have boot configuration 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Higher power consumption during Wi-Fi operation</a:t>
            </a:r>
            <a:endParaRPr lang="en-IN" sz="32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119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"/>
          <p:cNvSpPr/>
          <p:nvPr/>
        </p:nvSpPr>
        <p:spPr>
          <a:xfrm flipH="1">
            <a:off x="12941694" y="3262696"/>
            <a:ext cx="5374881" cy="7052879"/>
          </a:xfrm>
          <a:custGeom>
            <a:avLst/>
            <a:gdLst/>
            <a:ahLst/>
            <a:cxnLst/>
            <a:rect l="l" t="t" r="r" b="b"/>
            <a:pathLst>
              <a:path w="5374881" h="7052879" extrusionOk="0">
                <a:moveTo>
                  <a:pt x="5374881" y="0"/>
                </a:moveTo>
                <a:lnTo>
                  <a:pt x="0" y="0"/>
                </a:lnTo>
                <a:lnTo>
                  <a:pt x="0" y="7052879"/>
                </a:lnTo>
                <a:lnTo>
                  <a:pt x="5374881" y="7052879"/>
                </a:lnTo>
                <a:lnTo>
                  <a:pt x="5374881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5" name="Google Shape;235;p3"/>
          <p:cNvSpPr/>
          <p:nvPr/>
        </p:nvSpPr>
        <p:spPr>
          <a:xfrm rot="10800000" flipH="1">
            <a:off x="0" y="0"/>
            <a:ext cx="5374881" cy="7052879"/>
          </a:xfrm>
          <a:custGeom>
            <a:avLst/>
            <a:gdLst/>
            <a:ahLst/>
            <a:cxnLst/>
            <a:rect l="l" t="t" r="r" b="b"/>
            <a:pathLst>
              <a:path w="5374881" h="7052879" extrusionOk="0">
                <a:moveTo>
                  <a:pt x="0" y="7052879"/>
                </a:moveTo>
                <a:lnTo>
                  <a:pt x="5374881" y="7052879"/>
                </a:lnTo>
                <a:lnTo>
                  <a:pt x="5374881" y="0"/>
                </a:lnTo>
                <a:lnTo>
                  <a:pt x="0" y="0"/>
                </a:lnTo>
                <a:lnTo>
                  <a:pt x="0" y="705287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6" name="Google Shape;236;p3"/>
          <p:cNvSpPr txBox="1"/>
          <p:nvPr/>
        </p:nvSpPr>
        <p:spPr>
          <a:xfrm>
            <a:off x="4677566" y="2837145"/>
            <a:ext cx="9297742" cy="272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>
              <a:lnSpc>
                <a:spcPct val="140000"/>
              </a:lnSpc>
              <a:buSzPts val="12650"/>
            </a:pPr>
            <a:r>
              <a:rPr lang="en-US" sz="12650" b="1" i="0" u="none" strike="noStrike" cap="none" dirty="0">
                <a:solidFill>
                  <a:srgbClr val="055C9D"/>
                </a:solidFill>
                <a:latin typeface="EB Garamond"/>
                <a:ea typeface="EB Garamond"/>
                <a:cs typeface="EB Garamond"/>
                <a:sym typeface="EB Garamond"/>
              </a:rPr>
              <a:t>T H A N K</a:t>
            </a:r>
            <a:endParaRPr b="0" i="0" u="none" strike="noStrike" cap="none" dirty="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37" name="Google Shape;237;p3"/>
          <p:cNvSpPr txBox="1"/>
          <p:nvPr/>
        </p:nvSpPr>
        <p:spPr>
          <a:xfrm>
            <a:off x="5346306" y="4199826"/>
            <a:ext cx="7595400" cy="21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0"/>
              <a:buFont typeface="Arial"/>
              <a:buNone/>
            </a:pPr>
            <a:r>
              <a:rPr lang="en-US" sz="14000" b="0" i="0" u="none" strike="noStrike" cap="none" dirty="0">
                <a:solidFill>
                  <a:srgbClr val="003060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YOU</a:t>
            </a:r>
            <a:endParaRPr sz="1400" b="0" i="0" u="none" strike="noStrike" cap="none" dirty="0">
              <a:solidFill>
                <a:srgbClr val="000000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238" name="Google Shape;238;p3"/>
          <p:cNvSpPr/>
          <p:nvPr/>
        </p:nvSpPr>
        <p:spPr>
          <a:xfrm>
            <a:off x="10766725" y="151490"/>
            <a:ext cx="7329276" cy="2108281"/>
          </a:xfrm>
          <a:custGeom>
            <a:avLst/>
            <a:gdLst/>
            <a:ahLst/>
            <a:cxnLst/>
            <a:rect l="l" t="t" r="r" b="b"/>
            <a:pathLst>
              <a:path w="7329276" h="2108281" extrusionOk="0">
                <a:moveTo>
                  <a:pt x="0" y="0"/>
                </a:moveTo>
                <a:lnTo>
                  <a:pt x="7329276" y="0"/>
                </a:lnTo>
                <a:lnTo>
                  <a:pt x="7329276" y="2108282"/>
                </a:lnTo>
                <a:lnTo>
                  <a:pt x="0" y="21082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19553" b="-127935"/>
            </a:stretch>
          </a:blipFill>
          <a:ln>
            <a:noFill/>
          </a:ln>
        </p:spPr>
      </p:sp>
      <p:sp>
        <p:nvSpPr>
          <p:cNvPr id="239" name="Google Shape;239;p3"/>
          <p:cNvSpPr txBox="1"/>
          <p:nvPr/>
        </p:nvSpPr>
        <p:spPr>
          <a:xfrm>
            <a:off x="1028700" y="9045312"/>
            <a:ext cx="38343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4"/>
              <a:buFont typeface="Arial"/>
              <a:buNone/>
            </a:pPr>
            <a:r>
              <a:rPr lang="en-US" sz="2354" b="0" i="0" u="none" strike="noStrike" cap="none">
                <a:solidFill>
                  <a:srgbClr val="080636"/>
                </a:solidFill>
                <a:latin typeface="EB Garamond"/>
                <a:ea typeface="EB Garamond"/>
                <a:cs typeface="EB Garamond"/>
                <a:sym typeface="EB Garamond"/>
              </a:rPr>
              <a:t>www.creoleap.com</a:t>
            </a:r>
            <a:endParaRPr sz="1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605</Words>
  <Application>Microsoft Office PowerPoint</Application>
  <PresentationFormat>Custom</PresentationFormat>
  <Paragraphs>195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EB Garamond</vt:lpstr>
      <vt:lpstr>EB Garamond Medium</vt:lpstr>
      <vt:lpstr>Times New Roman</vt:lpstr>
      <vt:lpstr>EB Garamond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zuh41r</dc:creator>
  <cp:lastModifiedBy>Vignesh M</cp:lastModifiedBy>
  <cp:revision>13</cp:revision>
  <dcterms:created xsi:type="dcterms:W3CDTF">2006-08-16T00:00:00Z</dcterms:created>
  <dcterms:modified xsi:type="dcterms:W3CDTF">2026-06-29T06:27:05Z</dcterms:modified>
</cp:coreProperties>
</file>