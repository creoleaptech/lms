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EB Garamond Medium"/>
      <p:regular r:id="rId20"/>
      <p:bold r:id="rId21"/>
      <p:italic r:id="rId22"/>
      <p:boldItalic r:id="rId23"/>
    </p:embeddedFont>
    <p:embeddedFont>
      <p:font typeface="EB Garamon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qG6fJKoR2k59+WcaLS5h1hy91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Medium-regular.fntdata"/><Relationship Id="rId22" Type="http://schemas.openxmlformats.org/officeDocument/2006/relationships/font" Target="fonts/EBGaramondMedium-italic.fntdata"/><Relationship Id="rId21" Type="http://schemas.openxmlformats.org/officeDocument/2006/relationships/font" Target="fonts/EBGaramondMedium-bold.fntdata"/><Relationship Id="rId24" Type="http://schemas.openxmlformats.org/officeDocument/2006/relationships/font" Target="fonts/EBGaramond-regular.fntdata"/><Relationship Id="rId23" Type="http://schemas.openxmlformats.org/officeDocument/2006/relationships/font" Target="fonts/EBGaramond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italic.fntdata"/><Relationship Id="rId25" Type="http://schemas.openxmlformats.org/officeDocument/2006/relationships/font" Target="fonts/EBGaramond-bold.fntdata"/><Relationship Id="rId28" Type="http://customschemas.google.com/relationships/presentationmetadata" Target="metadata"/><Relationship Id="rId27" Type="http://schemas.openxmlformats.org/officeDocument/2006/relationships/font" Target="fonts/EB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f9ebf28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6f9ebf28fb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f1769431e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7f1769431e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1769431e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7f1769431e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f1769431e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7f1769431e_1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1769431e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7f1769431e_1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b0483c9e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8bb0483c9e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f1769431e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7f1769431e_1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01462cc5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801462cc5b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bb0483c9e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8bb0483c9e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bb0483c9e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8bb0483c9e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bb0483c9e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8bb0483c9e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bb0483c9e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8bb0483c9e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f1769431e_1_30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g37f1769431e_1_3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7f1769431e_1_30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 flipH="1">
            <a:off x="12941694" y="3262696"/>
            <a:ext cx="5374881" cy="7052879"/>
          </a:xfrm>
          <a:custGeom>
            <a:rect b="b" l="l" r="r" t="t"/>
            <a:pathLst>
              <a:path extrusionOk="0" h="7052879" w="5374881">
                <a:moveTo>
                  <a:pt x="5374881" y="0"/>
                </a:moveTo>
                <a:lnTo>
                  <a:pt x="0" y="0"/>
                </a:lnTo>
                <a:lnTo>
                  <a:pt x="0" y="7052879"/>
                </a:lnTo>
                <a:lnTo>
                  <a:pt x="5374881" y="7052879"/>
                </a:lnTo>
                <a:lnTo>
                  <a:pt x="537488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flipH="1" rot="10800000">
            <a:off x="0" y="0"/>
            <a:ext cx="5374881" cy="7052879"/>
          </a:xfrm>
          <a:custGeom>
            <a:rect b="b" l="l" r="r" t="t"/>
            <a:pathLst>
              <a:path extrusionOk="0" h="7052879" w="5374881">
                <a:moveTo>
                  <a:pt x="0" y="7052879"/>
                </a:moveTo>
                <a:lnTo>
                  <a:pt x="5374881" y="7052879"/>
                </a:lnTo>
                <a:lnTo>
                  <a:pt x="5374881" y="0"/>
                </a:lnTo>
                <a:lnTo>
                  <a:pt x="0" y="0"/>
                </a:lnTo>
                <a:lnTo>
                  <a:pt x="0" y="705287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0766725" y="151490"/>
            <a:ext cx="7329276" cy="2108281"/>
          </a:xfrm>
          <a:custGeom>
            <a:rect b="b" l="l" r="r" t="t"/>
            <a:pathLst>
              <a:path extrusionOk="0" h="2108281" w="7329276">
                <a:moveTo>
                  <a:pt x="0" y="0"/>
                </a:moveTo>
                <a:lnTo>
                  <a:pt x="7329276" y="0"/>
                </a:lnTo>
                <a:lnTo>
                  <a:pt x="7329276" y="2108282"/>
                </a:lnTo>
                <a:lnTo>
                  <a:pt x="0" y="2108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7967" l="0" r="0" t="-11958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1028700" y="90453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526097" y="3087838"/>
            <a:ext cx="52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047161" y="4168758"/>
            <a:ext cx="445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055575" y="3154875"/>
            <a:ext cx="6743400" cy="2960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837800" y="4804950"/>
            <a:ext cx="8612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003060"/>
                </a:solidFill>
                <a:latin typeface="Calibri"/>
                <a:ea typeface="Calibri"/>
                <a:cs typeface="Calibri"/>
                <a:sym typeface="Calibri"/>
              </a:rPr>
              <a:t>Deep Learning Essentials</a:t>
            </a:r>
            <a:endParaRPr b="0" i="0" sz="6000" u="none" cap="none" strike="noStrike">
              <a:solidFill>
                <a:srgbClr val="003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f9ebf28fb_0_23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g36f9ebf28fb_0_23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g36f9ebf28fb_0_23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7" l="0" r="0" t="-119580"/>
            </a:stretch>
          </a:blipFill>
          <a:ln>
            <a:noFill/>
          </a:ln>
        </p:spPr>
      </p:sp>
      <p:sp>
        <p:nvSpPr>
          <p:cNvPr id="103" name="Google Shape;103;g36f9ebf28fb_0_23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4" name="Google Shape;104;g36f9ebf28fb_0_23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6f9ebf28fb_0_23"/>
          <p:cNvSpPr txBox="1"/>
          <p:nvPr/>
        </p:nvSpPr>
        <p:spPr>
          <a:xfrm>
            <a:off x="583150" y="1136350"/>
            <a:ext cx="14010000" cy="7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uses multi-layered neural networks to automatically learn complex patterns from data.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Neural networks mimic the brain through interconnected neurons that transform inputs into higher-level features.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Convolutional Neural Networks (CNNs) specialize in image tasks by extracting spatial features through filters and pooling.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Overall, deep learning enables machines to perform vision, speech, and language tasks with high accuracy through hierarchical feature learning.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f1769431e_1_36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g37f1769431e_1_36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g37f1769431e_1_36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7" l="0" r="0" t="-119580"/>
            </a:stretch>
          </a:blipFill>
          <a:ln>
            <a:noFill/>
          </a:ln>
        </p:spPr>
      </p:sp>
      <p:sp>
        <p:nvSpPr>
          <p:cNvPr id="113" name="Google Shape;113;g37f1769431e_1_36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4" name="Google Shape;114;g37f1769431e_1_36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g37f1769431e_1_36"/>
          <p:cNvSpPr txBox="1"/>
          <p:nvPr/>
        </p:nvSpPr>
        <p:spPr>
          <a:xfrm>
            <a:off x="538300" y="1151275"/>
            <a:ext cx="14010000" cy="117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Outcomes</a:t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deep learning and explain how it differs from traditional machine learning.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structure and components of an artificial neural network.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 concepts such as activation functions, loss functions, and optimization algorithms.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process of training a neural network using forward and backward propagation.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differentiate between major deep learning architectures such as CNNs, RNNs, and Autoencoders.</a:t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1769431e_1_59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g37f1769431e_1_59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g37f1769431e_1_59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7" l="0" r="0" t="-119580"/>
            </a:stretch>
          </a:blipFill>
          <a:ln>
            <a:noFill/>
          </a:ln>
        </p:spPr>
      </p:sp>
      <p:sp>
        <p:nvSpPr>
          <p:cNvPr id="123" name="Google Shape;123;g37f1769431e_1_59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4" name="Google Shape;124;g37f1769431e_1_59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7f1769431e_1_59"/>
          <p:cNvSpPr txBox="1"/>
          <p:nvPr/>
        </p:nvSpPr>
        <p:spPr>
          <a:xfrm>
            <a:off x="538300" y="1151275"/>
            <a:ext cx="14010000" cy="7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Deep Learning?</a:t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type of machine learning that uses multi-layered neural networks to automatically learn patterns and make decisions from large amounts of data.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is used in image recognition, such as how Google Photos automatically identifies faces or objects (like “dog” or “car”) in pictures using Convolutional Neural Networks (CNNs).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f1769431e_1_76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g37f1769431e_1_76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g37f1769431e_1_76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7" l="0" r="0" t="-119580"/>
            </a:stretch>
          </a:blipFill>
          <a:ln>
            <a:noFill/>
          </a:ln>
        </p:spPr>
      </p:sp>
      <p:sp>
        <p:nvSpPr>
          <p:cNvPr id="133" name="Google Shape;133;g37f1769431e_1_76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4" name="Google Shape;134;g37f1769431e_1_76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g37f1769431e_1_76"/>
          <p:cNvSpPr txBox="1"/>
          <p:nvPr/>
        </p:nvSpPr>
        <p:spPr>
          <a:xfrm>
            <a:off x="538300" y="1151275"/>
            <a:ext cx="14010000" cy="7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neural networks?</a:t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networks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computer systems designed to mimic how the human brain works. They consist of layers of connected nodes (called </a:t>
            </a: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neurons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that process data, each neuron receives input, applies weights and an activation function, and passes the result to the next layer to make predictions or decisions.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7f1769431e_1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150" y="1587623"/>
            <a:ext cx="7403150" cy="466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7f1769431e_1_87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g37f1769431e_1_87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g37f1769431e_1_87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27967" l="0" r="0" t="-119580"/>
            </a:stretch>
          </a:blipFill>
          <a:ln>
            <a:noFill/>
          </a:ln>
        </p:spPr>
      </p:sp>
      <p:sp>
        <p:nvSpPr>
          <p:cNvPr id="144" name="Google Shape;144;g37f1769431e_1_87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5" name="Google Shape;145;g37f1769431e_1_87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g37f1769431e_1_87"/>
          <p:cNvSpPr txBox="1"/>
          <p:nvPr/>
        </p:nvSpPr>
        <p:spPr>
          <a:xfrm>
            <a:off x="538300" y="1151275"/>
            <a:ext cx="14010000" cy="7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of a Neural Network</a:t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neural network is made up of layers of neurons: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Layer: Receives the data.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Layers: Process and learn features.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Layer: Produces the final result.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connection has weights that determine importance.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 functions introduce non-linearity to help the model learn complex patterns.</a:t>
            </a:r>
            <a:endParaRPr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8bb0483c9e_1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300" y="2956838"/>
            <a:ext cx="4879050" cy="94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8bb0483c9e_1_41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g38bb0483c9e_1_41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g38bb0483c9e_1_41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27962" l="0" r="0" t="-119573"/>
            </a:stretch>
          </a:blipFill>
          <a:ln>
            <a:noFill/>
          </a:ln>
        </p:spPr>
      </p:sp>
      <p:sp>
        <p:nvSpPr>
          <p:cNvPr id="155" name="Google Shape;155;g38bb0483c9e_1_41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6" name="Google Shape;156;g38bb0483c9e_1_41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8bb0483c9e_1_41"/>
          <p:cNvSpPr txBox="1"/>
          <p:nvPr/>
        </p:nvSpPr>
        <p:spPr>
          <a:xfrm>
            <a:off x="538300" y="1151275"/>
            <a:ext cx="14010000" cy="7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Mathematics behind a neuron</a:t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Formula: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x₁, x₂, …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input features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w₁, w₂, …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weights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bias (shifts the output)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activation function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neuron output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1769431e_1_98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g37f1769431e_1_98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g37f1769431e_1_98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7" l="0" r="0" t="-119580"/>
            </a:stretch>
          </a:blipFill>
          <a:ln>
            <a:noFill/>
          </a:ln>
        </p:spPr>
      </p:sp>
      <p:sp>
        <p:nvSpPr>
          <p:cNvPr id="165" name="Google Shape;165;g37f1769431e_1_98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6" name="Google Shape;166;g37f1769431e_1_98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7f1769431e_1_98"/>
          <p:cNvSpPr txBox="1"/>
          <p:nvPr/>
        </p:nvSpPr>
        <p:spPr>
          <a:xfrm>
            <a:off x="538300" y="1151275"/>
            <a:ext cx="14010000" cy="82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an Activation function?</a:t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activation function decides whether a neuron should activate or not.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determines the output of a neuron based on its input and helps the network learn complex patterns.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adds non-linearity to the model so it can understand more than just straight-line relationships.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short: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Activation Function = the part of a neuron that decides how signals pass.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01462cc5b_1_2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g3801462cc5b_1_2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g3801462cc5b_1_2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7" l="0" r="0" t="-119580"/>
            </a:stretch>
          </a:blipFill>
          <a:ln>
            <a:noFill/>
          </a:ln>
        </p:spPr>
      </p:sp>
      <p:sp>
        <p:nvSpPr>
          <p:cNvPr id="175" name="Google Shape;175;g3801462cc5b_1_2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6" name="Google Shape;176;g3801462cc5b_1_2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3801462cc5b_1_2"/>
          <p:cNvSpPr txBox="1"/>
          <p:nvPr/>
        </p:nvSpPr>
        <p:spPr>
          <a:xfrm>
            <a:off x="538300" y="1151275"/>
            <a:ext cx="14010000" cy="82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common types of activation functions?</a:t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Sigmoid: outputs between 0 and 1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Tanh: outputs between -1 and 1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ReLU (Rectified Linear Unit): outputs positive values only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Softmax: converts outputs into probabilities for classification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bb0483c9e_1_70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g38bb0483c9e_1_70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g38bb0483c9e_1_70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2" l="0" r="0" t="-119573"/>
            </a:stretch>
          </a:blipFill>
          <a:ln>
            <a:noFill/>
          </a:ln>
        </p:spPr>
      </p:sp>
      <p:sp>
        <p:nvSpPr>
          <p:cNvPr id="185" name="Google Shape;185;g38bb0483c9e_1_70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" name="Google Shape;186;g38bb0483c9e_1_70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8bb0483c9e_1_70"/>
          <p:cNvSpPr txBox="1"/>
          <p:nvPr/>
        </p:nvSpPr>
        <p:spPr>
          <a:xfrm>
            <a:off x="538300" y="1151275"/>
            <a:ext cx="14010000" cy="82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loss function?</a:t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loss function tells the neural network how wrong its predictions are.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compares the predicted output with the actual (true) value and gives a number showing the error.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bb0483c9e_1_32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g38bb0483c9e_1_32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g38bb0483c9e_1_32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2" l="0" r="0" t="-119573"/>
            </a:stretch>
          </a:blipFill>
          <a:ln>
            <a:noFill/>
          </a:ln>
        </p:spPr>
      </p:sp>
      <p:sp>
        <p:nvSpPr>
          <p:cNvPr id="195" name="Google Shape;195;g38bb0483c9e_1_32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6" name="Google Shape;196;g38bb0483c9e_1_32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38bb0483c9e_1_32"/>
          <p:cNvSpPr txBox="1"/>
          <p:nvPr/>
        </p:nvSpPr>
        <p:spPr>
          <a:xfrm>
            <a:off x="538300" y="1151275"/>
            <a:ext cx="14010000" cy="82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forward propagation?</a:t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propagation is the process of passing input data through the neural network to get an output.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layer processes the input by applying weights, biases, and activation functions.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final layer produces the predicted output.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output is then compared with the actual value to calculate loss.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bb0483c9e_1_60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g38bb0483c9e_1_60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g38bb0483c9e_1_60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2" l="0" r="0" t="-119573"/>
            </a:stretch>
          </a:blipFill>
          <a:ln>
            <a:noFill/>
          </a:ln>
        </p:spPr>
      </p:sp>
      <p:sp>
        <p:nvSpPr>
          <p:cNvPr id="205" name="Google Shape;205;g38bb0483c9e_1_60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6" name="Google Shape;206;g38bb0483c9e_1_60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g38bb0483c9e_1_60"/>
          <p:cNvSpPr txBox="1"/>
          <p:nvPr/>
        </p:nvSpPr>
        <p:spPr>
          <a:xfrm>
            <a:off x="538300" y="1151275"/>
            <a:ext cx="14010000" cy="82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backward propagation?</a:t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propagation is the process of learning by adjusting the network’s weights to reduce the loss.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works backward from the output layer to the input layer.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the gradient of the loss function to update each weight based on its contribution to the error.</a:t>
            </a:r>
            <a:b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applies the Chain Rule of calculus to compute gradients efficiently.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bb0483c9e_1_23"/>
          <p:cNvSpPr/>
          <p:nvPr/>
        </p:nvSpPr>
        <p:spPr>
          <a:xfrm rot="10800000">
            <a:off x="14047882" y="10093"/>
            <a:ext cx="4240118" cy="4228527"/>
          </a:xfrm>
          <a:custGeom>
            <a:rect b="b" l="l" r="r" t="t"/>
            <a:pathLst>
              <a:path extrusionOk="0" h="8902162" w="6784189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g38bb0483c9e_1_23"/>
          <p:cNvSpPr/>
          <p:nvPr/>
        </p:nvSpPr>
        <p:spPr>
          <a:xfrm>
            <a:off x="16935114" y="6210528"/>
            <a:ext cx="1075032" cy="3047772"/>
          </a:xfrm>
          <a:custGeom>
            <a:rect b="b" l="l" r="r" t="t"/>
            <a:pathLst>
              <a:path extrusionOk="0" h="3047772" w="107503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g38bb0483c9e_1_23"/>
          <p:cNvSpPr/>
          <p:nvPr/>
        </p:nvSpPr>
        <p:spPr>
          <a:xfrm>
            <a:off x="0" y="9176"/>
            <a:ext cx="3544298" cy="1019524"/>
          </a:xfrm>
          <a:custGeom>
            <a:rect b="b" l="l" r="r" t="t"/>
            <a:pathLst>
              <a:path extrusionOk="0" h="1019524" w="3544298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7962" l="0" r="0" t="-119573"/>
            </a:stretch>
          </a:blipFill>
          <a:ln>
            <a:noFill/>
          </a:ln>
        </p:spPr>
      </p:sp>
      <p:sp>
        <p:nvSpPr>
          <p:cNvPr id="215" name="Google Shape;215;g38bb0483c9e_1_23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6" name="Google Shape;216;g38bb0483c9e_1_23"/>
          <p:cNvSpPr txBox="1"/>
          <p:nvPr/>
        </p:nvSpPr>
        <p:spPr>
          <a:xfrm>
            <a:off x="956925" y="15876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0" i="0" sz="3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38bb0483c9e_1_23"/>
          <p:cNvSpPr txBox="1"/>
          <p:nvPr/>
        </p:nvSpPr>
        <p:spPr>
          <a:xfrm>
            <a:off x="538300" y="1151275"/>
            <a:ext cx="14010000" cy="82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003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vanishing gradients?</a:t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sz="450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vanishing gradient problem happens when the gradients (error signals) used to update the weights during training become very small as they move backward through the layers of a deep neural network.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of this, the earlier layers in the network learn very slowly or stop learning completely, while the later layers continue to update.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short: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gradients get too small → weights stop updating → learning almost stops.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"/>
          <p:cNvSpPr/>
          <p:nvPr/>
        </p:nvSpPr>
        <p:spPr>
          <a:xfrm flipH="1">
            <a:off x="12941694" y="3262696"/>
            <a:ext cx="5374881" cy="7052879"/>
          </a:xfrm>
          <a:custGeom>
            <a:rect b="b" l="l" r="r" t="t"/>
            <a:pathLst>
              <a:path extrusionOk="0" h="7052879" w="5374881">
                <a:moveTo>
                  <a:pt x="5374881" y="0"/>
                </a:moveTo>
                <a:lnTo>
                  <a:pt x="0" y="0"/>
                </a:lnTo>
                <a:lnTo>
                  <a:pt x="0" y="7052879"/>
                </a:lnTo>
                <a:lnTo>
                  <a:pt x="5374881" y="7052879"/>
                </a:lnTo>
                <a:lnTo>
                  <a:pt x="537488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3"/>
          <p:cNvSpPr/>
          <p:nvPr/>
        </p:nvSpPr>
        <p:spPr>
          <a:xfrm flipH="1" rot="10800000">
            <a:off x="0" y="0"/>
            <a:ext cx="5374881" cy="7052879"/>
          </a:xfrm>
          <a:custGeom>
            <a:rect b="b" l="l" r="r" t="t"/>
            <a:pathLst>
              <a:path extrusionOk="0" h="7052879" w="5374881">
                <a:moveTo>
                  <a:pt x="0" y="7052879"/>
                </a:moveTo>
                <a:lnTo>
                  <a:pt x="5374881" y="7052879"/>
                </a:lnTo>
                <a:lnTo>
                  <a:pt x="5374881" y="0"/>
                </a:lnTo>
                <a:lnTo>
                  <a:pt x="0" y="0"/>
                </a:lnTo>
                <a:lnTo>
                  <a:pt x="0" y="705287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3"/>
          <p:cNvSpPr txBox="1"/>
          <p:nvPr/>
        </p:nvSpPr>
        <p:spPr>
          <a:xfrm>
            <a:off x="5346306" y="2774708"/>
            <a:ext cx="75954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50"/>
              <a:buFont typeface="Arial"/>
              <a:buNone/>
            </a:pPr>
            <a:r>
              <a:rPr b="1" i="0" lang="en-US" sz="12650" u="none" cap="none" strike="noStrike">
                <a:solidFill>
                  <a:srgbClr val="055C9D"/>
                </a:solidFill>
                <a:latin typeface="EB Garamond"/>
                <a:ea typeface="EB Garamond"/>
                <a:cs typeface="EB Garamond"/>
                <a:sym typeface="EB Garamond"/>
              </a:rPr>
              <a:t>THANK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5" name="Google Shape;225;p3"/>
          <p:cNvSpPr txBox="1"/>
          <p:nvPr/>
        </p:nvSpPr>
        <p:spPr>
          <a:xfrm>
            <a:off x="5346306" y="4199826"/>
            <a:ext cx="7595400" cy="21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0" i="0" lang="en-US" sz="14000" u="none" cap="none" strike="noStrike">
                <a:solidFill>
                  <a:srgbClr val="003060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YOU</a:t>
            </a:r>
            <a:endParaRPr b="0" i="0" sz="1400" u="none" cap="none" strike="noStrike">
              <a:solidFill>
                <a:srgbClr val="000000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10766725" y="151490"/>
            <a:ext cx="7329276" cy="2108281"/>
          </a:xfrm>
          <a:custGeom>
            <a:rect b="b" l="l" r="r" t="t"/>
            <a:pathLst>
              <a:path extrusionOk="0" h="2108281" w="7329276">
                <a:moveTo>
                  <a:pt x="0" y="0"/>
                </a:moveTo>
                <a:lnTo>
                  <a:pt x="7329276" y="0"/>
                </a:lnTo>
                <a:lnTo>
                  <a:pt x="7329276" y="2108282"/>
                </a:lnTo>
                <a:lnTo>
                  <a:pt x="0" y="2108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7967" l="0" r="0" t="-119580"/>
            </a:stretch>
          </a:blipFill>
          <a:ln>
            <a:noFill/>
          </a:ln>
        </p:spPr>
      </p:sp>
      <p:sp>
        <p:nvSpPr>
          <p:cNvPr id="227" name="Google Shape;227;p3"/>
          <p:cNvSpPr txBox="1"/>
          <p:nvPr/>
        </p:nvSpPr>
        <p:spPr>
          <a:xfrm>
            <a:off x="1028700" y="90453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b="0" i="0" lang="en-US" sz="2354" u="none" cap="none" strike="noStrik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